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42def425f7470e" /><Relationship Type="http://schemas.openxmlformats.org/officeDocument/2006/relationships/extended-properties" Target="/docProps/app.xml" Id="Re18abc3113f747d5" /><Relationship Type="http://schemas.openxmlformats.org/officeDocument/2006/relationships/officeDocument" Target="/ppt/presentation.xml" Id="R43525e76c8f14edf" /></Relationships>
</file>

<file path=ppt/presentation.xml><?xml version="1.0" encoding="utf-8"?>
<p:presentation xmlns:p="http://schemas.openxmlformats.org/presentationml/2006/main">
  <p:sldMasterIdLst>
    <p:sldMasterId xmlns:r="http://schemas.openxmlformats.org/officeDocument/2006/relationships" id="2147483648" r:id="R669d71595d6d4195"/>
  </p:sldMasterIdLst>
  <p:notesMasterIdLst>
    <p:notesMasterId xmlns:r="http://schemas.openxmlformats.org/officeDocument/2006/relationships" r:id="R8f5bf4309c774de1"/>
  </p:notesMasterIdLst>
  <p:sldIdLst>
    <p:sldId xmlns:r="http://schemas.openxmlformats.org/officeDocument/2006/relationships" id="256" r:id="Rb36ae737843a4304"/>
    <p:sldId xmlns:r="http://schemas.openxmlformats.org/officeDocument/2006/relationships" id="257" r:id="Rbb1145e6918745c4"/>
    <p:sldId xmlns:r="http://schemas.openxmlformats.org/officeDocument/2006/relationships" id="258" r:id="R68525fcaacb04b13"/>
    <p:sldId xmlns:r="http://schemas.openxmlformats.org/officeDocument/2006/relationships" id="259" r:id="Ra71e837085b34e33"/>
    <p:sldId xmlns:r="http://schemas.openxmlformats.org/officeDocument/2006/relationships" id="260" r:id="R9f1b76f535974073"/>
    <p:sldId xmlns:r="http://schemas.openxmlformats.org/officeDocument/2006/relationships" id="261" r:id="Rf994e92d708b48b5"/>
    <p:sldId xmlns:r="http://schemas.openxmlformats.org/officeDocument/2006/relationships" id="262" r:id="Rd997be82fe734d7f"/>
    <p:sldId xmlns:r="http://schemas.openxmlformats.org/officeDocument/2006/relationships" id="263" r:id="R6c7f8335a7024897"/>
    <p:sldId xmlns:r="http://schemas.openxmlformats.org/officeDocument/2006/relationships" id="264" r:id="R8af80d676c544b7a"/>
    <p:sldId xmlns:r="http://schemas.openxmlformats.org/officeDocument/2006/relationships" id="265" r:id="R100d5a9c9c4343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f4022f9414c2a" /><Relationship Type="http://schemas.openxmlformats.org/officeDocument/2006/relationships/slideMaster" Target="/ppt/slideMasters/slideMaster1.xml" Id="R669d71595d6d4195" /><Relationship Type="http://schemas.openxmlformats.org/officeDocument/2006/relationships/notesMaster" Target="/ppt/notesMasters/notesMaster1.xml" Id="R8f5bf4309c774de1" /><Relationship Type="http://schemas.openxmlformats.org/officeDocument/2006/relationships/presProps" Target="/ppt/presProps.xml" Id="R36ae92a279344c48" /><Relationship Type="http://schemas.openxmlformats.org/officeDocument/2006/relationships/tableStyles" Target="/ppt/tableStyles.xml" Id="Rf13bea9a0fcb4fe7" /><Relationship Type="http://schemas.openxmlformats.org/officeDocument/2006/relationships/slide" Target="/ppt/slides/slide1.xml" Id="Rb36ae737843a4304" /><Relationship Type="http://schemas.openxmlformats.org/officeDocument/2006/relationships/slide" Target="/ppt/slides/slide2.xml" Id="Rbb1145e6918745c4" /><Relationship Type="http://schemas.openxmlformats.org/officeDocument/2006/relationships/slide" Target="/ppt/slides/slide3.xml" Id="R68525fcaacb04b13" /><Relationship Type="http://schemas.openxmlformats.org/officeDocument/2006/relationships/slide" Target="/ppt/slides/slide4.xml" Id="Ra71e837085b34e33" /><Relationship Type="http://schemas.openxmlformats.org/officeDocument/2006/relationships/slide" Target="/ppt/slides/slide5.xml" Id="R9f1b76f535974073" /><Relationship Type="http://schemas.openxmlformats.org/officeDocument/2006/relationships/slide" Target="/ppt/slides/slide6.xml" Id="Rf994e92d708b48b5" /><Relationship Type="http://schemas.openxmlformats.org/officeDocument/2006/relationships/slide" Target="/ppt/slides/slide7.xml" Id="Rd997be82fe734d7f" /><Relationship Type="http://schemas.openxmlformats.org/officeDocument/2006/relationships/slide" Target="/ppt/slides/slide8.xml" Id="R6c7f8335a7024897" /><Relationship Type="http://schemas.openxmlformats.org/officeDocument/2006/relationships/slide" Target="/ppt/slides/slide9.xml" Id="R8af80d676c544b7a" /><Relationship Type="http://schemas.openxmlformats.org/officeDocument/2006/relationships/slide" Target="/ppt/slides/slide10.xml" Id="R100d5a9c9c4343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ef4b988c214e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cc146e18664763" /><Relationship Type="http://schemas.openxmlformats.org/officeDocument/2006/relationships/notesMaster" Target="/ppt/notesMasters/notesMaster1.xml" Id="Rce46884505864d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e7a7faa88f4ae2" /><Relationship Type="http://schemas.openxmlformats.org/officeDocument/2006/relationships/notesMaster" Target="/ppt/notesMasters/notesMaster1.xml" Id="R78a7af9c17564d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72291884c943e2" /><Relationship Type="http://schemas.openxmlformats.org/officeDocument/2006/relationships/notesMaster" Target="/ppt/notesMasters/notesMaster1.xml" Id="R6d6e1438721b47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2b48bf2ef04c3c" /><Relationship Type="http://schemas.openxmlformats.org/officeDocument/2006/relationships/notesMaster" Target="/ppt/notesMasters/notesMaster1.xml" Id="Rbd3986c3810742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c09afdcd1b47b5" /><Relationship Type="http://schemas.openxmlformats.org/officeDocument/2006/relationships/notesMaster" Target="/ppt/notesMasters/notesMaster1.xml" Id="Rd637b6b556494c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28f047f9414c0d" /><Relationship Type="http://schemas.openxmlformats.org/officeDocument/2006/relationships/notesMaster" Target="/ppt/notesMasters/notesMaster1.xml" Id="R6965c3332dd74d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51d79105da4d13" /><Relationship Type="http://schemas.openxmlformats.org/officeDocument/2006/relationships/notesMaster" Target="/ppt/notesMasters/notesMaster1.xml" Id="Rb735d8c5950348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efafbd028d42d3" /><Relationship Type="http://schemas.openxmlformats.org/officeDocument/2006/relationships/notesMaster" Target="/ppt/notesMasters/notesMaster1.xml" Id="R74fcf9217d5c48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32d3d21db641d4" /><Relationship Type="http://schemas.openxmlformats.org/officeDocument/2006/relationships/notesMaster" Target="/ppt/notesMasters/notesMaster1.xml" Id="Re1d2083512f143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bba31132a04d92" /><Relationship Type="http://schemas.openxmlformats.org/officeDocument/2006/relationships/notesMaster" Target="/ppt/notesMasters/notesMaster1.xml" Id="Rf237fe5631734c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Shivam Gupta, and this is Lotline. A recall notice is only the beginning of the response. Lotline helps a clinic account for the stock it may affect and document what happened next.</a:t>
            </a:r>
          </a:p>
          <a:p xmlns:a="http://schemas.openxmlformats.org/drawingml/2006/main">
            <a:r>
              <a:t/>
            </a:r>
          </a:p>
          <a:p xmlns:a="http://schemas.openxmlformats.org/drawingml/2006/main">
            <a:r>
              <a:t>Submission status: This is a supplemental pitch draft. The official Hack2Heal 2.0 template remains mandatory and unavailable to this build. Transfer content into that template before submission. This file is not a compliant substitute.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operations lead receiving a recall in a busy afternoon. They need to know which location has affected stock, which records are incomplete and who has acted. This scenario is illustrative, not a customer interview. The workflow itself is real: FDA recall Z-2614-2026 described inventory search, quarantine, notification of facilities receiving forwarded product, and a response even if no recalled product remained. It concerned BD syringes distributed by Mentor. Its return deadline was August 7, 2026, so we use it only as historical context.</a:t>
            </a:r>
          </a:p>
          <a:p xmlns:a="http://schemas.openxmlformats.org/drawingml/2006/main">
            <a:r>
              <a:t>Source: https://www.accessdata.fda.gov/scripts/cdrh/cfdocs/cfRES/res.cfm?id=220342</a:t>
            </a:r>
          </a:p>
          <a:p xmlns:a="http://schemas.openxmlformats.org/drawingml/2006/main">
            <a:r>
              <a:t>General recall actions: https://www.fda.gov/medical-devices/medical-device-recalls-and-early-alerts/what-medical-device-recall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Lotline connects a reviewed recall scope to stock records and the actions that follow. A person verifies the source instructions. The software compares identifiers and keeps uncertainty visible. Operators record quarantine and disposition, then export a response receipt. The prototype uses synthetic data and needs no patient records. An event log records what an operator entered. It does not independently prove what happened in a stockroom.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is a deterministic matching and accounting workflow. It uses one catalog identifier and an optional individual GTIN per reviewed scope. The lot set must be exact or explicitly all lots. Ranges, wildcards and multiple-product scopes are rejected. GTIN check digits are validated. A human must verify the actual label when source data are inconsistent. A missing lot does not become a nonmatch. The design also checks quantity conservation: an operator cannot record more units than the affected stock or close while quantities remain unaccounted. The scope also constrains permitted dispositions. Full-lifetime replay deduplication prevents a repeated request from recording the same action twice. CSV imports support basic stock exports. GS1 parsing supports compatible identifier strings and is not a promise to decode every label. Recall management already exists. Our differentiation hypothesis is a lightweight workflow that makes uncertainty and unresolved quantities obvious.</a:t>
            </a:r>
          </a:p>
          <a:p xmlns:a="http://schemas.openxmlformats.org/drawingml/2006/main">
            <a:r>
              <a:t>Source for device identification context: https://www.fda.gov/media/152543/download</a:t>
            </a:r>
          </a:p>
          <a:p xmlns:a="http://schemas.openxmlformats.org/drawingml/2006/main">
            <a:r>
              <a:t>Competition context: https://home.ecri.org/blogs/ecri-news/ecri-announces-recipients-of-2023-alerts-impact-award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case begins with 40 affected units at Riverside and 24 at Hillview. Another 12 units have a missing lot. Lotline keeps those 12 unresolved. Thirty units have lot B, outside this reviewed scope. That is not a general safety claim. We inspect and resolve the missing lot to A. The affected total becomes 76, and every one needs a recorded disposition before local response completion. The names, lots and stock counts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user is the operations lead responsible for a clinic group, supported by the people handling stock. The proposed benefits are practical: less time investigating, fewer unaccounted records, and a clearer response record. We have not measured those benefits in a clinic and do not claim reduced patient harm. Patient safety motivates the workflow, but the first study should evaluate the workflow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established competition. Staritas is the current home of the former ECRI recall-management business, spun out in April 2026. Its current site describes recall management and Alerts Workflow. Historical ECRI material documents inventory matching and response tracking, demonstrating that these capabilities predate Lotline. GHX offers inventory traceability and recall support; the cited brochure is European product material, not evidence of US pricing or a US customer contract. Generic alerts are already available. Our hypothesis is that small groups may value a simple response workspace fed by basic stock exports. A distributor could sponsor its customer sites. We would test 99 dollars monthly for a group with three sites, and 19 dollars per additional site. These are proposed test prices, not validated demand or revenue.</a:t>
            </a:r>
          </a:p>
          <a:p xmlns:a="http://schemas.openxmlformats.org/drawingml/2006/main">
            <a:r>
              <a:t>Staritas current business: https://staritas.com/</a:t>
            </a:r>
          </a:p>
          <a:p xmlns:a="http://schemas.openxmlformats.org/drawingml/2006/main">
            <a:r>
              <a:t>Official ECRI transition announcement: https://home.ecri.org/pages/announcement</a:t>
            </a:r>
          </a:p>
          <a:p xmlns:a="http://schemas.openxmlformats.org/drawingml/2006/main">
            <a:r>
              <a:t>Historical ECRI workflow evidence: https://home.ecri.org/blogs/ecri-news/ecri-announces-recipients-of-2023-alerts-impact-award</a:t>
            </a:r>
          </a:p>
          <a:p xmlns:a="http://schemas.openxmlformats.org/drawingml/2006/main">
            <a:r>
              <a:t>GHX: https://www.ghx.com/media/sd4ddptz/ghx_europe-ghx-provider-overview-brochure_en.pdf</a:t>
            </a:r>
          </a:p>
          <a:p xmlns:a="http://schemas.openxmlformats.org/drawingml/2006/main">
            <a:r>
              <a:t>Feed pricing comparison: https://recallstream.com/pricing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MVP demonstrates the complete response workflow with synthetic data. The implemented backend authenticates account-specific workspaces and persists data in D1. It does not implement shared organization roles. The implementation team reports 48 deterministic core tests passing. This test count is software evidence, not a clinical outcome. Deployment into a real organization requires more: reviewed notice ingestion, shared organization roles and approvals, retention and recovery, and a supervised operational evaluation. We treat these as launch gates. A working demonstration should not be presented as clinical validation or regulatory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four-week supervised pilot with three to five sites, using historical or simulated notices and de-identified stock records. A qualified reviewer should adjudicate the scope and expected outcomes. Proposed go criteria include zero false-clear outcomes in that evaluation set, at least 30 percent less median administrative handling time, and a buyer willing to pay. These are targets, not results. If missing data or support costs overwhelm the value, we narrow the product before expanding.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Shivam Gupta, the project creator responsible for product direction. I used substantial AI assistance for research, implementation, testing and drafting. The goal is a focused and understandable tool: no unknown unit should disappear behind a completed checkbox.</a:t>
            </a:r>
          </a:p>
          <a:p xmlns:a="http://schemas.openxmlformats.org/drawingml/2006/main">
            <a:r>
              <a:t>Team registration note: institution, student enrollment and any other required participant details must be entered truthfully in the official submission. They are not invented here.</a:t>
            </a:r>
          </a:p>
          <a:p xmlns:a="http://schemas.openxmlformats.org/drawingml/2006/main">
            <a:r>
              <a:t>This supplemental pitch requires transfer into the mandatory organizer template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bc093e50545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6cab6c7908457d" /><Relationship Type="http://schemas.openxmlformats.org/officeDocument/2006/relationships/slideLayout" Target="/ppt/slideLayouts/slideLayout1.xml" Id="R80688cc5ae2e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688cc5ae2e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ee119882304957" /><Relationship Type="http://schemas.openxmlformats.org/officeDocument/2006/relationships/notesSlide" Target="/ppt/notesSlides/notesSlide1.xml" Id="Ra2993cee0d124f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4ae1e2b68a4dc1" /><Relationship Type="http://schemas.openxmlformats.org/officeDocument/2006/relationships/hyperlink" Target="https://www.accessdata.fda.gov/scripts/cdrh/cfdocs/cfRES/res.cfm?id=220342" TargetMode="External" Id="R8bc6736467d944c4" /><Relationship Type="http://schemas.openxmlformats.org/officeDocument/2006/relationships/notesSlide" Target="/ppt/notesSlides/notesSlide2.xml" Id="R83c5a2f85bea42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3b760cf18144bd" /><Relationship Type="http://schemas.openxmlformats.org/officeDocument/2006/relationships/image" Target="/ppt/media/image.png" Id="Rc3b85f40e7cb4386" /><Relationship Type="http://schemas.openxmlformats.org/officeDocument/2006/relationships/notesSlide" Target="/ppt/notesSlides/notesSlide3.xml" Id="R9e8d5c3e3b0c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c1e507300b4140" /><Relationship Type="http://schemas.openxmlformats.org/officeDocument/2006/relationships/notesSlide" Target="/ppt/notesSlides/notesSlide4.xml" Id="R17e33cf0ed424d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c851e00fa34815" /><Relationship Type="http://schemas.openxmlformats.org/officeDocument/2006/relationships/notesSlide" Target="/ppt/notesSlides/notesSlide5.xml" Id="Re4c6f7a7c9a446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ddab8cca4a4b47" /><Relationship Type="http://schemas.openxmlformats.org/officeDocument/2006/relationships/notesSlide" Target="/ppt/notesSlides/notesSlide6.xml" Id="R0f4acd4a76cf4f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6b605391db4b70" /><Relationship Type="http://schemas.openxmlformats.org/officeDocument/2006/relationships/hyperlink" Target="https://staritas.com/" TargetMode="External" Id="R14b6d5a53a2343ab" /><Relationship Type="http://schemas.openxmlformats.org/officeDocument/2006/relationships/hyperlink" Target="https://home.ecri.org/pages/announcement" TargetMode="External" Id="R86124f0168f94453" /><Relationship Type="http://schemas.openxmlformats.org/officeDocument/2006/relationships/hyperlink" Target="https://www.ghx.com/media/sd4ddptz/ghx_europe-ghx-provider-overview-brochure_en.pdf" TargetMode="External" Id="R9f6f499306ee4c78" /><Relationship Type="http://schemas.openxmlformats.org/officeDocument/2006/relationships/notesSlide" Target="/ppt/notesSlides/notesSlide7.xml" Id="R0a7bd5f6dd1e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e69ab005c64a45" /><Relationship Type="http://schemas.openxmlformats.org/officeDocument/2006/relationships/notesSlide" Target="/ppt/notesSlides/notesSlide8.xml" Id="R1adadce3b2c14e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ffbb7370c44f2d" /><Relationship Type="http://schemas.openxmlformats.org/officeDocument/2006/relationships/notesSlide" Target="/ppt/notesSlides/notesSlide9.xml" Id="Rb3c988191e4141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f526199a6b4db9" /><Relationship Type="http://schemas.openxmlformats.org/officeDocument/2006/relationships/notesSlide" Target="/ppt/notesSlides/notesSlide10.xml" Id="Ra4e1576c46584222" /></Relationships>
</file>

<file path=ppt/slides/slide1.xml><?xml version="1.0" encoding="utf-8"?>
<p:sld xmlns:p="http://schemas.openxmlformats.org/presentationml/2006/main">
  <p:cSld>
    <p:bg>
      <p:bgPr>
        <a:solidFill xmlns:a="http://schemas.openxmlformats.org/drawingml/2006/main">
          <a:srgbClr val="102E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0C8830-3676-4E2B-8C03-FD668F364E2D}"/>
              </a:ext>
            </a:extLst>
          </p:cNvPr>
          <p:cNvSpPr>
            <a:spLocks xmlns:a="http://schemas.openxmlformats.org/drawingml/2006/main" noGrp="1"/>
          </p:cNvSpPr>
          <p:nvPr/>
        </p:nvSpPr>
        <p:spPr>
          <a:xfrm xmlns:a="http://schemas.openxmlformats.org/drawingml/2006/main">
            <a:off x="609600" y="4667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CDEE99"/>
                </a:solidFill>
                <a:latin typeface="Avenir"/>
                <a:ea typeface="Avenir"/>
                <a:cs typeface="Avenir"/>
              </a:defRPr>
            </a:pPr>
            <a:r>
              <a:rPr sz="1350" b="1">
                <a:solidFill>
                  <a:srgbClr val="CDEE99"/>
                </a:solidFill>
                <a:latin typeface="Avenir"/>
                <a:ea typeface="Avenir"/>
                <a:cs typeface="Avenir"/>
              </a:rPr>
              <a:t>HACK2HEAL 2.0</a:t>
            </a:r>
          </a:p>
        </p:txBody>
      </p:sp>
      <p:sp>
        <p:nvSpPr>
          <p:cNvPr id="2" name="">
            <a:extLst xmlns:a="http://schemas.openxmlformats.org/drawingml/2006/main">
              <a:ext uri="{FF2B5EF4-FFF2-40B4-BE49-F238E27FC236}">
                <a16:creationId xmlns:a16="http://schemas.microsoft.com/office/drawing/2014/main" id="{039E8663-2C6F-465E-B81F-CE2D7C1A0609}"/>
              </a:ext>
            </a:extLst>
          </p:cNvPr>
          <p:cNvSpPr>
            <a:spLocks xmlns:a="http://schemas.openxmlformats.org/drawingml/2006/main" noGrp="1"/>
          </p:cNvSpPr>
          <p:nvPr/>
        </p:nvSpPr>
        <p:spPr>
          <a:xfrm xmlns:a="http://schemas.openxmlformats.org/drawingml/2006/main">
            <a:off x="609600" y="16573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8100" b="1">
                <a:solidFill>
                  <a:srgbClr val="FFFFFF"/>
                </a:solidFill>
                <a:latin typeface="Avenir"/>
                <a:ea typeface="Avenir"/>
                <a:cs typeface="Avenir"/>
              </a:defRPr>
            </a:pPr>
            <a:r>
              <a:rPr sz="8100" b="1">
                <a:solidFill>
                  <a:srgbClr val="FFFFFF"/>
                </a:solidFill>
                <a:latin typeface="Avenir"/>
                <a:ea typeface="Avenir"/>
                <a:cs typeface="Avenir"/>
              </a:rPr>
              <a:t>Lotline</a:t>
            </a:r>
          </a:p>
        </p:txBody>
      </p:sp>
      <p:sp>
        <p:nvSpPr>
          <p:cNvPr id="3" name="">
            <a:extLst xmlns:a="http://schemas.openxmlformats.org/drawingml/2006/main">
              <a:ext uri="{FF2B5EF4-FFF2-40B4-BE49-F238E27FC236}">
                <a16:creationId xmlns:a16="http://schemas.microsoft.com/office/drawing/2014/main" id="{CE5F6AF7-0A9B-4ADD-B12F-8A2381623C63}"/>
              </a:ext>
            </a:extLst>
          </p:cNvPr>
          <p:cNvSpPr>
            <a:spLocks xmlns:a="http://schemas.openxmlformats.org/drawingml/2006/main" noGrp="1"/>
          </p:cNvSpPr>
          <p:nvPr/>
        </p:nvSpPr>
        <p:spPr>
          <a:xfrm xmlns:a="http://schemas.openxmlformats.org/drawingml/2006/main">
            <a:off x="657225" y="3105150"/>
            <a:ext cx="10096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venir"/>
                <a:ea typeface="Avenir"/>
                <a:cs typeface="Avenir"/>
              </a:defRPr>
            </a:pPr>
            <a:r>
              <a:rPr sz="2925" b="0">
                <a:solidFill>
                  <a:srgbClr val="FFFFFF"/>
                </a:solidFill>
                <a:latin typeface="Avenir"/>
                <a:ea typeface="Avenir"/>
                <a:cs typeface="Avenir"/>
              </a:rPr>
              <a:t>A completed, documented</a:t>
            </a:r>
          </a:p>
          <a:p xmlns:a="http://schemas.openxmlformats.org/drawingml/2006/main">
            <a:pPr>
              <a:defRPr sz="2925" b="0">
                <a:solidFill>
                  <a:srgbClr val="FFFFFF"/>
                </a:solidFill>
                <a:latin typeface="Avenir"/>
                <a:ea typeface="Avenir"/>
                <a:cs typeface="Avenir"/>
              </a:defRPr>
            </a:pPr>
            <a:r>
              <a:rPr sz="2925" b="0">
                <a:solidFill>
                  <a:srgbClr val="FFFFFF"/>
                </a:solidFill>
                <a:latin typeface="Avenir"/>
                <a:ea typeface="Avenir"/>
                <a:cs typeface="Avenir"/>
              </a:rPr>
              <a:t>response to medical product recalls</a:t>
            </a:r>
          </a:p>
        </p:txBody>
      </p:sp>
      <p:sp>
        <p:nvSpPr>
          <p:cNvPr id="4" name="">
            <a:extLst xmlns:a="http://schemas.openxmlformats.org/drawingml/2006/main">
              <a:ext uri="{FF2B5EF4-FFF2-40B4-BE49-F238E27FC236}">
                <a16:creationId xmlns:a16="http://schemas.microsoft.com/office/drawing/2014/main" id="{0ED66739-8317-427F-9D0D-22AE0E984923}"/>
              </a:ext>
            </a:extLst>
          </p:cNvPr>
          <p:cNvSpPr>
            <a:spLocks xmlns:a="http://schemas.openxmlformats.org/drawingml/2006/main" noGrp="1"/>
          </p:cNvSpPr>
          <p:nvPr/>
        </p:nvSpPr>
        <p:spPr>
          <a:xfrm xmlns:a="http://schemas.openxmlformats.org/drawingml/2006/main">
            <a:off x="657225" y="4972050"/>
            <a:ext cx="762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CDEE99"/>
                </a:solidFill>
                <a:latin typeface="Avenir"/>
                <a:ea typeface="Avenir"/>
                <a:cs typeface="Avenir"/>
              </a:defRPr>
            </a:pPr>
            <a:r>
              <a:rPr sz="1875" b="1">
                <a:solidFill>
                  <a:srgbClr val="CDEE99"/>
                </a:solidFill>
                <a:latin typeface="Avenir"/>
                <a:ea typeface="Avenir"/>
                <a:cs typeface="Avenir"/>
              </a:rPr>
              <a:t>Shivam Gupta</a:t>
            </a:r>
          </a:p>
        </p:txBody>
      </p:sp>
      <p:sp>
        <p:nvSpPr>
          <p:cNvPr id="5" name="">
            <a:extLst xmlns:a="http://schemas.openxmlformats.org/drawingml/2006/main">
              <a:ext uri="{FF2B5EF4-FFF2-40B4-BE49-F238E27FC236}">
                <a16:creationId xmlns:a16="http://schemas.microsoft.com/office/drawing/2014/main" id="{44435895-F340-455D-89AA-29CF7B52AA7E}"/>
              </a:ext>
            </a:extLst>
          </p:cNvPr>
          <p:cNvSpPr>
            <a:spLocks xmlns:a="http://schemas.openxmlformats.org/drawingml/2006/main" noGrp="1"/>
          </p:cNvSpPr>
          <p:nvPr/>
        </p:nvSpPr>
        <p:spPr>
          <a:xfrm xmlns:a="http://schemas.openxmlformats.org/drawingml/2006/main">
            <a:off x="657225" y="53911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B6C9CF"/>
                </a:solidFill>
                <a:latin typeface="Avenir"/>
                <a:ea typeface="Avenir"/>
                <a:cs typeface="Avenir"/>
              </a:defRPr>
            </a:pPr>
            <a:r>
              <a:rPr sz="1350" b="0">
                <a:solidFill>
                  <a:srgbClr val="B6C9CF"/>
                </a:solidFill>
                <a:latin typeface="Avenir"/>
                <a:ea typeface="Avenir"/>
                <a:cs typeface="Avenir"/>
              </a:rPr>
              <a:t>Supplemental pitch  /  September 2026</a:t>
            </a:r>
          </a:p>
        </p:txBody>
      </p:sp>
      <p:sp>
        <p:nvSpPr>
          <p:cNvPr id="6" name="">
            <a:extLst xmlns:a="http://schemas.openxmlformats.org/drawingml/2006/main">
              <a:ext uri="{FF2B5EF4-FFF2-40B4-BE49-F238E27FC236}">
                <a16:creationId xmlns:a16="http://schemas.microsoft.com/office/drawing/2014/main" id="{7BA7A701-31F3-4768-AD8A-BFA782DDFCBA}"/>
              </a:ext>
            </a:extLst>
          </p:cNvPr>
          <p:cNvSpPr>
            <a:spLocks xmlns:a="http://schemas.openxmlformats.org/drawingml/2006/main" noGrp="1"/>
          </p:cNvSpPr>
          <p:nvPr/>
        </p:nvSpPr>
        <p:spPr>
          <a:xfrm xmlns:a="http://schemas.openxmlformats.org/drawingml/2006/main">
            <a:off x="657225" y="61912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B6C9CF"/>
                </a:solidFill>
                <a:latin typeface="Avenir"/>
                <a:ea typeface="Avenir"/>
                <a:cs typeface="Avenir"/>
              </a:defRPr>
            </a:pPr>
            <a:r>
              <a:rPr sz="1275" b="0">
                <a:solidFill>
                  <a:srgbClr val="B6C9CF"/>
                </a:solidFill>
                <a:latin typeface="Avenir"/>
                <a:ea typeface="Avenir"/>
                <a:cs typeface="Avenir"/>
              </a:rPr>
              <a:t>Draft: transfer to mandatory organizer template before submission</a:t>
            </a:r>
          </a:p>
        </p:txBody>
      </p:sp>
    </p:spTree>
    <p:extLst>
      <p:ext uri="{BB962C8B-B14F-4D97-AF65-F5344CB8AC3E}">
        <p14:creationId xmlns:p14="http://schemas.microsoft.com/office/powerpoint/2010/main" val="2607769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974A22-C502-4748-A69E-22B388D08391}"/>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Problem Statement</a:t>
            </a:r>
          </a:p>
        </p:txBody>
      </p:sp>
      <p:sp>
        <p:nvSpPr>
          <p:cNvPr id="2" name="">
            <a:extLst xmlns:a="http://schemas.openxmlformats.org/drawingml/2006/main">
              <a:ext uri="{FF2B5EF4-FFF2-40B4-BE49-F238E27FC236}">
                <a16:creationId xmlns:a16="http://schemas.microsoft.com/office/drawing/2014/main" id="{6F36B780-70D3-4412-AB96-BFDE716C302C}"/>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Can a clinic account for every</a:t>
            </a:r>
          </a:p>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potentially affected unit?</a:t>
            </a:r>
          </a:p>
        </p:txBody>
      </p:sp>
      <p:sp>
        <p:nvSpPr>
          <p:cNvPr id="3" name="">
            <a:extLst xmlns:a="http://schemas.openxmlformats.org/drawingml/2006/main">
              <a:ext uri="{FF2B5EF4-FFF2-40B4-BE49-F238E27FC236}">
                <a16:creationId xmlns:a16="http://schemas.microsoft.com/office/drawing/2014/main" id="{79207BDC-D3A0-4200-B04D-004F1E4F69DA}"/>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02</a:t>
            </a:r>
          </a:p>
        </p:txBody>
      </p:sp>
      <p:sp>
        <p:nvSpPr>
          <p:cNvPr id="4" name="">
            <a:extLst xmlns:a="http://schemas.openxmlformats.org/drawingml/2006/main">
              <a:ext uri="{FF2B5EF4-FFF2-40B4-BE49-F238E27FC236}">
                <a16:creationId xmlns:a16="http://schemas.microsoft.com/office/drawing/2014/main" id="{478C79B8-8A50-4FDC-AC08-35465E41824C}"/>
              </a:ext>
            </a:extLst>
          </p:cNvPr>
          <p:cNvSpPr>
            <a:spLocks xmlns:a="http://schemas.openxmlformats.org/drawingml/2006/main" noGrp="1"/>
          </p:cNvSpPr>
          <p:nvPr/>
        </p:nvSpPr>
        <p:spPr>
          <a:xfrm xmlns:a="http://schemas.openxmlformats.org/drawingml/2006/main">
            <a:off x="609600" y="2486025"/>
            <a:ext cx="63246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02E3B"/>
                </a:solidFill>
                <a:latin typeface="Avenir"/>
                <a:ea typeface="Avenir"/>
                <a:cs typeface="Avenir"/>
              </a:defRPr>
            </a:pPr>
            <a:r>
              <a:rPr sz="2550" b="0">
                <a:solidFill>
                  <a:srgbClr val="102E3B"/>
                </a:solidFill>
                <a:latin typeface="Avenir"/>
                <a:ea typeface="Avenir"/>
                <a:cs typeface="Avenir"/>
              </a:rPr>
              <a:t>A notice names the product and lot.</a:t>
            </a:r>
          </a:p>
          <a:p xmlns:a="http://schemas.openxmlformats.org/drawingml/2006/main">
            <a:pPr>
              <a:defRPr sz="2550" b="0">
                <a:solidFill>
                  <a:srgbClr val="102E3B"/>
                </a:solidFill>
                <a:latin typeface="Avenir"/>
                <a:ea typeface="Avenir"/>
                <a:cs typeface="Avenir"/>
              </a:defRPr>
            </a:pPr>
            <a:r>
              <a:rPr sz="2550" b="0">
                <a:solidFill>
                  <a:srgbClr val="102E3B"/>
                </a:solidFill>
                <a:latin typeface="Avenir"/>
                <a:ea typeface="Avenir"/>
                <a:cs typeface="Avenir"/>
              </a:rPr>
              <a:t>The clinic must still find its stock</a:t>
            </a:r>
          </a:p>
          <a:p xmlns:a="http://schemas.openxmlformats.org/drawingml/2006/main">
            <a:pPr>
              <a:defRPr sz="2550" b="0">
                <a:solidFill>
                  <a:srgbClr val="102E3B"/>
                </a:solidFill>
                <a:latin typeface="Avenir"/>
                <a:ea typeface="Avenir"/>
                <a:cs typeface="Avenir"/>
              </a:defRPr>
            </a:pPr>
            <a:r>
              <a:rPr sz="2550" b="0">
                <a:solidFill>
                  <a:srgbClr val="102E3B"/>
                </a:solidFill>
                <a:latin typeface="Avenir"/>
                <a:ea typeface="Avenir"/>
                <a:cs typeface="Avenir"/>
              </a:rPr>
              <a:t>and complete the response.</a:t>
            </a:r>
          </a:p>
        </p:txBody>
      </p:sp>
      <p:sp>
        <p:nvSpPr>
          <p:cNvPr id="5" name="">
            <a:extLst xmlns:a="http://schemas.openxmlformats.org/drawingml/2006/main">
              <a:ext uri="{FF2B5EF4-FFF2-40B4-BE49-F238E27FC236}">
                <a16:creationId xmlns:a16="http://schemas.microsoft.com/office/drawing/2014/main" id="{F9625DBA-7F07-4110-AB17-9F9710A40DE2}"/>
              </a:ext>
            </a:extLst>
          </p:cNvPr>
          <p:cNvSpPr>
            <a:spLocks xmlns:a="http://schemas.openxmlformats.org/drawingml/2006/main" noGrp="1"/>
          </p:cNvSpPr>
          <p:nvPr/>
        </p:nvSpPr>
        <p:spPr>
          <a:xfrm xmlns:a="http://schemas.openxmlformats.org/drawingml/2006/main">
            <a:off x="7972425" y="24669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96B"/>
                </a:solidFill>
                <a:latin typeface="Avenir"/>
                <a:ea typeface="Avenir"/>
                <a:cs typeface="Avenir"/>
              </a:defRPr>
            </a:pPr>
            <a:r>
              <a:rPr sz="1875" b="1">
                <a:solidFill>
                  <a:srgbClr val="08796B"/>
                </a:solidFill>
                <a:latin typeface="Avenir"/>
                <a:ea typeface="Avenir"/>
                <a:cs typeface="Avenir"/>
              </a:rPr>
              <a:t>01</a:t>
            </a:r>
          </a:p>
        </p:txBody>
      </p:sp>
      <p:sp>
        <p:nvSpPr>
          <p:cNvPr id="6" name="">
            <a:extLst xmlns:a="http://schemas.openxmlformats.org/drawingml/2006/main">
              <a:ext uri="{FF2B5EF4-FFF2-40B4-BE49-F238E27FC236}">
                <a16:creationId xmlns:a16="http://schemas.microsoft.com/office/drawing/2014/main" id="{ACBB9413-50C0-43F8-8740-6465894F7CD6}"/>
              </a:ext>
            </a:extLst>
          </p:cNvPr>
          <p:cNvSpPr>
            <a:spLocks xmlns:a="http://schemas.openxmlformats.org/drawingml/2006/main" noGrp="1"/>
          </p:cNvSpPr>
          <p:nvPr/>
        </p:nvSpPr>
        <p:spPr>
          <a:xfrm xmlns:a="http://schemas.openxmlformats.org/drawingml/2006/main">
            <a:off x="8782050" y="24669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02E3B"/>
                </a:solidFill>
                <a:latin typeface="Avenir"/>
                <a:ea typeface="Avenir"/>
                <a:cs typeface="Avenir"/>
              </a:defRPr>
            </a:pPr>
            <a:r>
              <a:rPr sz="2025" b="1">
                <a:solidFill>
                  <a:srgbClr val="102E3B"/>
                </a:solidFill>
                <a:latin typeface="Avenir"/>
                <a:ea typeface="Avenir"/>
                <a:cs typeface="Avenir"/>
              </a:rPr>
              <a:t>Check each location</a:t>
            </a:r>
          </a:p>
        </p:txBody>
      </p:sp>
      <p:sp>
        <p:nvSpPr>
          <p:cNvPr id="7" name="">
            <a:extLst xmlns:a="http://schemas.openxmlformats.org/drawingml/2006/main">
              <a:ext uri="{FF2B5EF4-FFF2-40B4-BE49-F238E27FC236}">
                <a16:creationId xmlns:a16="http://schemas.microsoft.com/office/drawing/2014/main" id="{0CDB49B6-186A-4E8C-9FE5-BF8E064E8B29}"/>
              </a:ext>
            </a:extLst>
          </p:cNvPr>
          <p:cNvSpPr>
            <a:spLocks xmlns:a="http://schemas.openxmlformats.org/drawingml/2006/main" noGrp="1"/>
          </p:cNvSpPr>
          <p:nvPr/>
        </p:nvSpPr>
        <p:spPr>
          <a:xfrm xmlns:a="http://schemas.openxmlformats.org/drawingml/2006/main">
            <a:off x="7972425" y="34671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96B"/>
                </a:solidFill>
                <a:latin typeface="Avenir"/>
                <a:ea typeface="Avenir"/>
                <a:cs typeface="Avenir"/>
              </a:defRPr>
            </a:pPr>
            <a:r>
              <a:rPr sz="1875" b="1">
                <a:solidFill>
                  <a:srgbClr val="08796B"/>
                </a:solidFill>
                <a:latin typeface="Avenir"/>
                <a:ea typeface="Avenir"/>
                <a:cs typeface="Avenir"/>
              </a:rPr>
              <a:t>02</a:t>
            </a:r>
          </a:p>
        </p:txBody>
      </p:sp>
      <p:sp>
        <p:nvSpPr>
          <p:cNvPr id="8" name="">
            <a:extLst xmlns:a="http://schemas.openxmlformats.org/drawingml/2006/main">
              <a:ext uri="{FF2B5EF4-FFF2-40B4-BE49-F238E27FC236}">
                <a16:creationId xmlns:a16="http://schemas.microsoft.com/office/drawing/2014/main" id="{501403F3-7A82-4C37-9D04-06D3A8698D6A}"/>
              </a:ext>
            </a:extLst>
          </p:cNvPr>
          <p:cNvSpPr>
            <a:spLocks xmlns:a="http://schemas.openxmlformats.org/drawingml/2006/main" noGrp="1"/>
          </p:cNvSpPr>
          <p:nvPr/>
        </p:nvSpPr>
        <p:spPr>
          <a:xfrm xmlns:a="http://schemas.openxmlformats.org/drawingml/2006/main">
            <a:off x="8782050" y="346710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02E3B"/>
                </a:solidFill>
                <a:latin typeface="Avenir"/>
                <a:ea typeface="Avenir"/>
                <a:cs typeface="Avenir"/>
              </a:defRPr>
            </a:pPr>
            <a:r>
              <a:rPr sz="2025" b="1">
                <a:solidFill>
                  <a:srgbClr val="102E3B"/>
                </a:solidFill>
                <a:latin typeface="Avenir"/>
                <a:ea typeface="Avenir"/>
                <a:cs typeface="Avenir"/>
              </a:rPr>
              <a:t>Investigate missing lots</a:t>
            </a:r>
          </a:p>
        </p:txBody>
      </p:sp>
      <p:sp>
        <p:nvSpPr>
          <p:cNvPr id="9" name="">
            <a:extLst xmlns:a="http://schemas.openxmlformats.org/drawingml/2006/main">
              <a:ext uri="{FF2B5EF4-FFF2-40B4-BE49-F238E27FC236}">
                <a16:creationId xmlns:a16="http://schemas.microsoft.com/office/drawing/2014/main" id="{557E53E0-9EFA-4A66-8EED-A2F01BDB7A07}"/>
              </a:ext>
            </a:extLst>
          </p:cNvPr>
          <p:cNvSpPr>
            <a:spLocks xmlns:a="http://schemas.openxmlformats.org/drawingml/2006/main" noGrp="1"/>
          </p:cNvSpPr>
          <p:nvPr/>
        </p:nvSpPr>
        <p:spPr>
          <a:xfrm xmlns:a="http://schemas.openxmlformats.org/drawingml/2006/main">
            <a:off x="7972425" y="44672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96B"/>
                </a:solidFill>
                <a:latin typeface="Avenir"/>
                <a:ea typeface="Avenir"/>
                <a:cs typeface="Avenir"/>
              </a:defRPr>
            </a:pPr>
            <a:r>
              <a:rPr sz="1875" b="1">
                <a:solidFill>
                  <a:srgbClr val="08796B"/>
                </a:solidFill>
                <a:latin typeface="Avenir"/>
                <a:ea typeface="Avenir"/>
                <a:cs typeface="Avenir"/>
              </a:rPr>
              <a:t>03</a:t>
            </a:r>
          </a:p>
        </p:txBody>
      </p:sp>
      <p:sp>
        <p:nvSpPr>
          <p:cNvPr id="10" name="">
            <a:extLst xmlns:a="http://schemas.openxmlformats.org/drawingml/2006/main">
              <a:ext uri="{FF2B5EF4-FFF2-40B4-BE49-F238E27FC236}">
                <a16:creationId xmlns:a16="http://schemas.microsoft.com/office/drawing/2014/main" id="{D1FF5010-7955-46DA-8973-8BB331CD6755}"/>
              </a:ext>
            </a:extLst>
          </p:cNvPr>
          <p:cNvSpPr>
            <a:spLocks xmlns:a="http://schemas.openxmlformats.org/drawingml/2006/main" noGrp="1"/>
          </p:cNvSpPr>
          <p:nvPr/>
        </p:nvSpPr>
        <p:spPr>
          <a:xfrm xmlns:a="http://schemas.openxmlformats.org/drawingml/2006/main">
            <a:off x="8782050" y="4467225"/>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02E3B"/>
                </a:solidFill>
                <a:latin typeface="Avenir"/>
                <a:ea typeface="Avenir"/>
                <a:cs typeface="Avenir"/>
              </a:defRPr>
            </a:pPr>
            <a:r>
              <a:rPr sz="2025" b="1">
                <a:solidFill>
                  <a:srgbClr val="102E3B"/>
                </a:solidFill>
                <a:latin typeface="Avenir"/>
                <a:ea typeface="Avenir"/>
                <a:cs typeface="Avenir"/>
              </a:rPr>
              <a:t>Document every outcome</a:t>
            </a:r>
          </a:p>
        </p:txBody>
      </p:sp>
      <p:sp>
        <p:nvSpPr>
          <p:cNvPr id="11" name="">
            <a:extLst xmlns:a="http://schemas.openxmlformats.org/drawingml/2006/main">
              <a:ext uri="{FF2B5EF4-FFF2-40B4-BE49-F238E27FC236}">
                <a16:creationId xmlns:a16="http://schemas.microsoft.com/office/drawing/2014/main" id="{1324DEE0-FF16-4295-B470-AD4D2F6DF23A}"/>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hlinkClick xmlns:r="http://schemas.openxmlformats.org/officeDocument/2006/relationships" r:id="R8bc6736467d944c4"/>
              </a:rPr>
              <a:t>FDA recall Z-2614-2026</a:t>
            </a:r>
            <a:r>
              <a:rPr sz="1200" b="0">
                <a:solidFill>
                  <a:srgbClr val="56707B"/>
                </a:solidFill>
                <a:latin typeface="Avenir"/>
                <a:ea typeface="Avenir"/>
                <a:cs typeface="Avenir"/>
              </a:rPr>
              <a:t> required inventory checks, quarantine and replies even where no affected stock remained. Historical example.</a:t>
            </a:r>
          </a:p>
        </p:txBody>
      </p:sp>
    </p:spTree>
    <p:extLst>
      <p:ext uri="{BB962C8B-B14F-4D97-AF65-F5344CB8AC3E}">
        <p14:creationId xmlns:p14="http://schemas.microsoft.com/office/powerpoint/2010/main" val="10438065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BA0CCC-77A9-4F30-98E2-669834854E5C}"/>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Proposed Solution</a:t>
            </a:r>
          </a:p>
        </p:txBody>
      </p:sp>
      <p:sp>
        <p:nvSpPr>
          <p:cNvPr id="2" name="">
            <a:extLst xmlns:a="http://schemas.openxmlformats.org/drawingml/2006/main">
              <a:ext uri="{FF2B5EF4-FFF2-40B4-BE49-F238E27FC236}">
                <a16:creationId xmlns:a16="http://schemas.microsoft.com/office/drawing/2014/main" id="{8C83C99D-6B0F-45AD-8B7B-F5F73F8D6DF5}"/>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One workspace for recall follow-through</a:t>
            </a:r>
          </a:p>
        </p:txBody>
      </p:sp>
      <p:sp>
        <p:nvSpPr>
          <p:cNvPr id="3" name="">
            <a:extLst xmlns:a="http://schemas.openxmlformats.org/drawingml/2006/main">
              <a:ext uri="{FF2B5EF4-FFF2-40B4-BE49-F238E27FC236}">
                <a16:creationId xmlns:a16="http://schemas.microsoft.com/office/drawing/2014/main" id="{E89E331C-0609-4C8B-A24B-84CA2FD0BA7A}"/>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3b85f40e7cb4386"/>
          <a:srcRect xmlns:a="http://schemas.openxmlformats.org/drawingml/2006/main" l="0" t="23824" r="0" b="59706"/>
          <a:stretch xmlns:a="http://schemas.openxmlformats.org/drawingml/2006/main">
            <a:fillRect l="0" t="0" r="0" b="0"/>
          </a:stretch>
        </p:blipFill>
        <p:spPr>
          <a:xfrm xmlns:a="http://schemas.openxmlformats.org/drawingml/2006/main">
            <a:off x="609600" y="2800350"/>
            <a:ext cx="10953750" cy="17049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3799C6-4351-4509-BDF8-3268E0959BF2}"/>
              </a:ext>
            </a:extLst>
          </p:cNvPr>
          <p:cNvSpPr>
            <a:spLocks xmlns:a="http://schemas.openxmlformats.org/drawingml/2006/main" noGrp="1"/>
          </p:cNvSpPr>
          <p:nvPr/>
        </p:nvSpPr>
        <p:spPr>
          <a:xfrm xmlns:a="http://schemas.openxmlformats.org/drawingml/2006/main">
            <a:off x="609600" y="21526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E3B"/>
                </a:solidFill>
                <a:latin typeface="Avenir"/>
                <a:ea typeface="Avenir"/>
                <a:cs typeface="Avenir"/>
              </a:defRPr>
            </a:pPr>
            <a:r>
              <a:rPr sz="2175" b="0">
                <a:solidFill>
                  <a:srgbClr val="102E3B"/>
                </a:solidFill>
                <a:latin typeface="Avenir"/>
                <a:ea typeface="Avenir"/>
                <a:cs typeface="Avenir"/>
              </a:rPr>
              <a:t>Actual MVP with synthetic clinic stock</a:t>
            </a:r>
          </a:p>
        </p:txBody>
      </p:sp>
      <p:sp>
        <p:nvSpPr>
          <p:cNvPr id="6" name="">
            <a:extLst xmlns:a="http://schemas.openxmlformats.org/drawingml/2006/main">
              <a:ext uri="{FF2B5EF4-FFF2-40B4-BE49-F238E27FC236}">
                <a16:creationId xmlns:a16="http://schemas.microsoft.com/office/drawing/2014/main" id="{B9360178-9664-4008-8DD6-E44CC5033D6F}"/>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08796B"/>
                </a:solidFill>
                <a:latin typeface="Avenir"/>
                <a:ea typeface="Avenir"/>
                <a:cs typeface="Avenir"/>
              </a:defRPr>
            </a:pPr>
            <a:r>
              <a:rPr sz="1950" b="1">
                <a:solidFill>
                  <a:srgbClr val="08796B"/>
                </a:solidFill>
                <a:latin typeface="Avenir"/>
                <a:ea typeface="Avenir"/>
                <a:cs typeface="Avenir"/>
              </a:rPr>
              <a:t>Unresolved inventory stays visible until an operator verifies the label.</a:t>
            </a:r>
          </a:p>
        </p:txBody>
      </p:sp>
      <p:sp>
        <p:nvSpPr>
          <p:cNvPr id="7" name="">
            <a:extLst xmlns:a="http://schemas.openxmlformats.org/drawingml/2006/main">
              <a:ext uri="{FF2B5EF4-FFF2-40B4-BE49-F238E27FC236}">
                <a16:creationId xmlns:a16="http://schemas.microsoft.com/office/drawing/2014/main" id="{C7D33FC6-E393-4230-B445-28B10671D363}"/>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Synthetic demonstration. No patient records. Operator-entered evidence does not independently certify physical stock.</a:t>
            </a:r>
          </a:p>
        </p:txBody>
      </p:sp>
    </p:spTree>
    <p:extLst>
      <p:ext uri="{BB962C8B-B14F-4D97-AF65-F5344CB8AC3E}">
        <p14:creationId xmlns:p14="http://schemas.microsoft.com/office/powerpoint/2010/main" val="14589308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DB8240-A9B6-4433-A9C9-260B2F021AD1}"/>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Innovation &amp; Technology</a:t>
            </a:r>
          </a:p>
        </p:txBody>
      </p:sp>
      <p:sp>
        <p:nvSpPr>
          <p:cNvPr id="2" name="">
            <a:extLst xmlns:a="http://schemas.openxmlformats.org/drawingml/2006/main">
              <a:ext uri="{FF2B5EF4-FFF2-40B4-BE49-F238E27FC236}">
                <a16:creationId xmlns:a16="http://schemas.microsoft.com/office/drawing/2014/main" id="{C484A341-655C-4622-AF9B-5EEDB42CEEA6}"/>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Explicit rules preserve uncertainty</a:t>
            </a:r>
          </a:p>
        </p:txBody>
      </p:sp>
      <p:sp>
        <p:nvSpPr>
          <p:cNvPr id="3" name="">
            <a:extLst xmlns:a="http://schemas.openxmlformats.org/drawingml/2006/main">
              <a:ext uri="{FF2B5EF4-FFF2-40B4-BE49-F238E27FC236}">
                <a16:creationId xmlns:a16="http://schemas.microsoft.com/office/drawing/2014/main" id="{DA37D5E1-F7B2-40B6-AD6A-227391B5253A}"/>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04</a:t>
            </a:r>
          </a:p>
        </p:txBody>
      </p:sp>
      <p:graphicFrame>
        <p:nvGraphicFramePr>
          <p:cNvPr id="9" name=""/>
          <p:cNvGraphicFramePr/>
          <p:nvPr/>
        </p:nvGraphicFramePr>
        <p:xfrm>
          <a:off xmlns:a="http://schemas.openxmlformats.org/drawingml/2006/main" x="609600" y="2362200"/>
          <a:ext xmlns:a="http://schemas.openxmlformats.org/drawingml/2006/main" cx="10953750" cy="2886075"/>
        </p:xfrm>
        <a:graphic xmlns:a="http://schemas.openxmlformats.org/drawingml/2006/main">
          <a:graphicData uri="http://schemas.openxmlformats.org/drawingml/2006/table">
            <a:tbl>
              <a:tblPr/>
              <a:tblGrid>
                <a:gridCol w="3067050"/>
                <a:gridCol w="7886700"/>
              </a:tblGrid>
              <a:tr h="577215">
                <a:tc>
                  <a:txBody>
                    <a:bodyPr lIns="133350" tIns="114300" rIns="114300" bIns="95250"/>
                    <a:lstStyle/>
                    <a:p>
                      <a:r>
                        <a:rPr sz="1350" b="1">
                          <a:solidFill>
                            <a:srgbClr val="FFFFFF"/>
                          </a:solidFill>
                          <a:latin typeface="Avenir"/>
                          <a:ea typeface="Avenir"/>
                          <a:cs typeface="Avenir"/>
                        </a:rPr>
                        <a:t>Control</a:t>
                      </a:r>
                    </a:p>
                  </a:txBody>
                  <a:tcPr marL="91440" marR="91440" marT="45720" marB="45720" anchor="ctr">
                    <a:solidFill>
                      <a:srgbClr val="102E3B"/>
                    </a:solidFill>
                  </a:tcPr>
                </a:tc>
                <a:tc>
                  <a:txBody>
                    <a:bodyPr lIns="133350" tIns="114300" rIns="114300" bIns="95250"/>
                    <a:lstStyle/>
                    <a:p>
                      <a:r>
                        <a:rPr sz="1350" b="1">
                          <a:solidFill>
                            <a:srgbClr val="FFFFFF"/>
                          </a:solidFill>
                          <a:latin typeface="Avenir"/>
                          <a:ea typeface="Avenir"/>
                          <a:cs typeface="Avenir"/>
                        </a:rPr>
                        <a:t>Behavior</a:t>
                      </a:r>
                    </a:p>
                  </a:txBody>
                  <a:tcPr marL="91440" marR="91440" marT="45720" marB="45720" anchor="ctr">
                    <a:solidFill>
                      <a:srgbClr val="102E3B"/>
                    </a:solidFill>
                  </a:tcPr>
                </a:tc>
              </a:tr>
              <a:tr h="577215">
                <a:tc>
                  <a:txBody>
                    <a:bodyPr lIns="133350" tIns="114300" rIns="114300" bIns="95250"/>
                    <a:lstStyle/>
                    <a:p>
                      <a:r>
                        <a:rPr sz="1650" b="0">
                          <a:solidFill>
                            <a:srgbClr val="102E3B"/>
                          </a:solidFill>
                          <a:latin typeface="Avenir"/>
                          <a:ea typeface="Avenir"/>
                          <a:cs typeface="Avenir"/>
                        </a:rPr>
                        <a:t>Product identity</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One catalog + optional individual GTIN</a:t>
                      </a:r>
                    </a:p>
                  </a:txBody>
                  <a:tcPr marL="91440" marR="91440" marT="45720" marB="45720" anchor="ctr">
                    <a:solidFill>
                      <a:srgbClr val="F1F6F5"/>
                    </a:solidFill>
                  </a:tcPr>
                </a:tc>
              </a:tr>
              <a:tr h="577215">
                <a:tc>
                  <a:txBody>
                    <a:bodyPr lIns="133350" tIns="114300" rIns="114300" bIns="95250"/>
                    <a:lstStyle/>
                    <a:p>
                      <a:r>
                        <a:rPr sz="1650" b="0">
                          <a:solidFill>
                            <a:srgbClr val="102E3B"/>
                          </a:solidFill>
                          <a:latin typeface="Avenir"/>
                          <a:ea typeface="Avenir"/>
                          <a:cs typeface="Avenir"/>
                        </a:rPr>
                        <a:t>Lot scope</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Shared exact lot set, or explicit all-lots scope</a:t>
                      </a:r>
                    </a:p>
                  </a:txBody>
                  <a:tcPr marL="91440" marR="91440" marT="45720" marB="45720" anchor="ctr">
                    <a:solidFill>
                      <a:srgbClr val="FFFFFF"/>
                    </a:solidFill>
                  </a:tcPr>
                </a:tc>
              </a:tr>
              <a:tr h="577215">
                <a:tc>
                  <a:txBody>
                    <a:bodyPr lIns="133350" tIns="114300" rIns="114300" bIns="95250"/>
                    <a:lstStyle/>
                    <a:p>
                      <a:r>
                        <a:rPr sz="1650" b="0">
                          <a:solidFill>
                            <a:srgbClr val="102E3B"/>
                          </a:solidFill>
                          <a:latin typeface="Avenir"/>
                          <a:ea typeface="Avenir"/>
                          <a:cs typeface="Avenir"/>
                        </a:rPr>
                        <a:t>Incomplete records</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Keep missing identifiers unresolved</a:t>
                      </a:r>
                    </a:p>
                  </a:txBody>
                  <a:tcPr marL="91440" marR="91440" marT="45720" marB="45720" anchor="ctr">
                    <a:solidFill>
                      <a:srgbClr val="F1F6F5"/>
                    </a:solidFill>
                  </a:tcPr>
                </a:tc>
              </a:tr>
              <a:tr h="577215">
                <a:tc>
                  <a:txBody>
                    <a:bodyPr lIns="133350" tIns="114300" rIns="114300" bIns="95250"/>
                    <a:lstStyle/>
                    <a:p>
                      <a:r>
                        <a:rPr sz="1650" b="0">
                          <a:solidFill>
                            <a:srgbClr val="102E3B"/>
                          </a:solidFill>
                          <a:latin typeface="Avenir"/>
                          <a:ea typeface="Avenir"/>
                          <a:cs typeface="Avenir"/>
                        </a:rPr>
                        <a:t>Quantity accounting</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Record every affected unit using a permitted disposition</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5F95EC-8302-4EEE-98A8-E0F6964C80F1}"/>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CSV and supported GS1 parsing. Ranges, wildcards and multi-product scopes require a different workflow.</a:t>
            </a:r>
          </a:p>
        </p:txBody>
      </p:sp>
    </p:spTree>
    <p:extLst>
      <p:ext uri="{BB962C8B-B14F-4D97-AF65-F5344CB8AC3E}">
        <p14:creationId xmlns:p14="http://schemas.microsoft.com/office/powerpoint/2010/main" val="3299824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DDBF3A-D79D-4A34-B78A-0A5D918CCDB0}"/>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Synthetic demonstration</a:t>
            </a:r>
          </a:p>
        </p:txBody>
      </p:sp>
      <p:sp>
        <p:nvSpPr>
          <p:cNvPr id="2" name="">
            <a:extLst xmlns:a="http://schemas.openxmlformats.org/drawingml/2006/main">
              <a:ext uri="{FF2B5EF4-FFF2-40B4-BE49-F238E27FC236}">
                <a16:creationId xmlns:a16="http://schemas.microsoft.com/office/drawing/2014/main" id="{3A86AC91-7EDC-4EFE-849F-7CEA68907B9F}"/>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Twelve unknown units keep the case open</a:t>
            </a:r>
          </a:p>
        </p:txBody>
      </p:sp>
      <p:sp>
        <p:nvSpPr>
          <p:cNvPr id="3" name="">
            <a:extLst xmlns:a="http://schemas.openxmlformats.org/drawingml/2006/main">
              <a:ext uri="{FF2B5EF4-FFF2-40B4-BE49-F238E27FC236}">
                <a16:creationId xmlns:a16="http://schemas.microsoft.com/office/drawing/2014/main" id="{5A2A3418-232A-4A29-8B6D-683549D39D89}"/>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05</a:t>
            </a:r>
          </a:p>
        </p:txBody>
      </p:sp>
      <p:graphicFrame>
        <p:nvGraphicFramePr>
          <p:cNvPr id="12" name=""/>
          <p:cNvGraphicFramePr/>
          <p:nvPr/>
        </p:nvGraphicFramePr>
        <p:xfrm>
          <a:off xmlns:a="http://schemas.openxmlformats.org/drawingml/2006/main" x="609600" y="2257425"/>
          <a:ext xmlns:a="http://schemas.openxmlformats.org/drawingml/2006/main" cx="7581900" cy="2857500"/>
        </p:xfrm>
        <a:graphic xmlns:a="http://schemas.openxmlformats.org/drawingml/2006/main">
          <a:graphicData uri="http://schemas.openxmlformats.org/drawingml/2006/table">
            <a:tbl>
              <a:tblPr/>
              <a:tblGrid>
                <a:gridCol w="3333750"/>
                <a:gridCol w="857250"/>
                <a:gridCol w="3390900"/>
              </a:tblGrid>
              <a:tr h="571500">
                <a:tc>
                  <a:txBody>
                    <a:bodyPr lIns="133350" tIns="114300" rIns="114300" bIns="95250"/>
                    <a:lstStyle/>
                    <a:p>
                      <a:r>
                        <a:rPr sz="1350" b="1">
                          <a:solidFill>
                            <a:srgbClr val="FFFFFF"/>
                          </a:solidFill>
                          <a:latin typeface="Avenir"/>
                          <a:ea typeface="Avenir"/>
                          <a:cs typeface="Avenir"/>
                        </a:rPr>
                        <a:t>Northstar stock</a:t>
                      </a:r>
                    </a:p>
                  </a:txBody>
                  <a:tcPr marL="91440" marR="91440" marT="45720" marB="45720" anchor="ctr">
                    <a:solidFill>
                      <a:srgbClr val="102E3B"/>
                    </a:solidFill>
                  </a:tcPr>
                </a:tc>
                <a:tc>
                  <a:txBody>
                    <a:bodyPr lIns="133350" tIns="114300" rIns="114300" bIns="95250"/>
                    <a:lstStyle/>
                    <a:p>
                      <a:r>
                        <a:rPr sz="1350" b="1">
                          <a:solidFill>
                            <a:srgbClr val="FFFFFF"/>
                          </a:solidFill>
                          <a:latin typeface="Avenir"/>
                          <a:ea typeface="Avenir"/>
                          <a:cs typeface="Avenir"/>
                        </a:rPr>
                        <a:t>Units</a:t>
                      </a:r>
                    </a:p>
                  </a:txBody>
                  <a:tcPr marL="91440" marR="91440" marT="45720" marB="45720" anchor="ctr">
                    <a:solidFill>
                      <a:srgbClr val="102E3B"/>
                    </a:solidFill>
                  </a:tcPr>
                </a:tc>
                <a:tc>
                  <a:txBody>
                    <a:bodyPr lIns="133350" tIns="114300" rIns="114300" bIns="95250"/>
                    <a:lstStyle/>
                    <a:p>
                      <a:r>
                        <a:rPr sz="1350" b="1">
                          <a:solidFill>
                            <a:srgbClr val="FFFFFF"/>
                          </a:solidFill>
                          <a:latin typeface="Avenir"/>
                          <a:ea typeface="Avenir"/>
                          <a:cs typeface="Avenir"/>
                        </a:rPr>
                        <a:t>Initial result</a:t>
                      </a:r>
                    </a:p>
                  </a:txBody>
                  <a:tcPr marL="91440" marR="91440" marT="45720" marB="45720" anchor="ctr">
                    <a:solidFill>
                      <a:srgbClr val="102E3B"/>
                    </a:solidFill>
                  </a:tcPr>
                </a:tc>
              </a:tr>
              <a:tr h="571500">
                <a:tc>
                  <a:txBody>
                    <a:bodyPr lIns="133350" tIns="114300" rIns="114300" bIns="95250"/>
                    <a:lstStyle/>
                    <a:p>
                      <a:r>
                        <a:rPr sz="1650" b="0">
                          <a:solidFill>
                            <a:srgbClr val="102E3B"/>
                          </a:solidFill>
                          <a:latin typeface="Avenir"/>
                          <a:ea typeface="Avenir"/>
                          <a:cs typeface="Avenir"/>
                        </a:rPr>
                        <a:t>Riverside / SY2608-A</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40</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Matches reviewed scope</a:t>
                      </a:r>
                    </a:p>
                  </a:txBody>
                  <a:tcPr marL="91440" marR="91440" marT="45720" marB="45720" anchor="ctr">
                    <a:solidFill>
                      <a:srgbClr val="F1F6F5"/>
                    </a:solidFill>
                  </a:tcPr>
                </a:tc>
              </a:tr>
              <a:tr h="571500">
                <a:tc>
                  <a:txBody>
                    <a:bodyPr lIns="133350" tIns="114300" rIns="114300" bIns="95250"/>
                    <a:lstStyle/>
                    <a:p>
                      <a:r>
                        <a:rPr sz="1650" b="0">
                          <a:solidFill>
                            <a:srgbClr val="102E3B"/>
                          </a:solidFill>
                          <a:latin typeface="Avenir"/>
                          <a:ea typeface="Avenir"/>
                          <a:cs typeface="Avenir"/>
                        </a:rPr>
                        <a:t>Hillview / SY2608-A</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24</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Matches reviewed scope</a:t>
                      </a:r>
                    </a:p>
                  </a:txBody>
                  <a:tcPr marL="91440" marR="91440" marT="45720" marB="45720" anchor="ctr">
                    <a:solidFill>
                      <a:srgbClr val="FFFFFF"/>
                    </a:solidFill>
                  </a:tcPr>
                </a:tc>
              </a:tr>
              <a:tr h="571500">
                <a:tc>
                  <a:txBody>
                    <a:bodyPr lIns="133350" tIns="114300" rIns="114300" bIns="95250"/>
                    <a:lstStyle/>
                    <a:p>
                      <a:r>
                        <a:rPr sz="1650" b="0">
                          <a:solidFill>
                            <a:srgbClr val="102E3B"/>
                          </a:solidFill>
                          <a:latin typeface="Avenir"/>
                          <a:ea typeface="Avenir"/>
                          <a:cs typeface="Avenir"/>
                        </a:rPr>
                        <a:t>Hillview / missing lot</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12</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Needs investigation</a:t>
                      </a:r>
                    </a:p>
                  </a:txBody>
                  <a:tcPr marL="91440" marR="91440" marT="45720" marB="45720" anchor="ctr">
                    <a:solidFill>
                      <a:srgbClr val="F1F6F5"/>
                    </a:solidFill>
                  </a:tcPr>
                </a:tc>
              </a:tr>
              <a:tr h="571500">
                <a:tc>
                  <a:txBody>
                    <a:bodyPr lIns="133350" tIns="114300" rIns="114300" bIns="95250"/>
                    <a:lstStyle/>
                    <a:p>
                      <a:r>
                        <a:rPr sz="1650" b="0">
                          <a:solidFill>
                            <a:srgbClr val="102E3B"/>
                          </a:solidFill>
                          <a:latin typeface="Avenir"/>
                          <a:ea typeface="Avenir"/>
                          <a:cs typeface="Avenir"/>
                        </a:rPr>
                        <a:t>Riverside / SY2608-B</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30</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Outside reviewed scope</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34BA0CD-F790-4761-8F12-48AC645062A3}"/>
              </a:ext>
            </a:extLst>
          </p:cNvPr>
          <p:cNvSpPr>
            <a:spLocks xmlns:a="http://schemas.openxmlformats.org/drawingml/2006/main" noGrp="1"/>
          </p:cNvSpPr>
          <p:nvPr/>
        </p:nvSpPr>
        <p:spPr>
          <a:xfrm xmlns:a="http://schemas.openxmlformats.org/drawingml/2006/main">
            <a:off x="8820150" y="2305050"/>
            <a:ext cx="27241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b="1">
                <a:solidFill>
                  <a:srgbClr val="08796B"/>
                </a:solidFill>
                <a:latin typeface="Avenir"/>
                <a:ea typeface="Avenir"/>
                <a:cs typeface="Avenir"/>
              </a:defRPr>
            </a:pPr>
            <a:r>
              <a:rPr sz="7050" b="1">
                <a:solidFill>
                  <a:srgbClr val="08796B"/>
                </a:solidFill>
                <a:latin typeface="Avenir"/>
                <a:ea typeface="Avenir"/>
                <a:cs typeface="Avenir"/>
              </a:rPr>
              <a:t>76</a:t>
            </a:r>
          </a:p>
        </p:txBody>
      </p:sp>
      <p:sp>
        <p:nvSpPr>
          <p:cNvPr id="6" name="">
            <a:extLst xmlns:a="http://schemas.openxmlformats.org/drawingml/2006/main">
              <a:ext uri="{FF2B5EF4-FFF2-40B4-BE49-F238E27FC236}">
                <a16:creationId xmlns:a16="http://schemas.microsoft.com/office/drawing/2014/main" id="{85640CEC-7EA1-4D30-B88B-5A5C23F432A2}"/>
              </a:ext>
            </a:extLst>
          </p:cNvPr>
          <p:cNvSpPr>
            <a:spLocks xmlns:a="http://schemas.openxmlformats.org/drawingml/2006/main" noGrp="1"/>
          </p:cNvSpPr>
          <p:nvPr/>
        </p:nvSpPr>
        <p:spPr>
          <a:xfrm xmlns:a="http://schemas.openxmlformats.org/drawingml/2006/main">
            <a:off x="8810625" y="3562350"/>
            <a:ext cx="2762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02E3B"/>
                </a:solidFill>
                <a:latin typeface="Avenir"/>
                <a:ea typeface="Avenir"/>
                <a:cs typeface="Avenir"/>
              </a:defRPr>
            </a:pPr>
            <a:r>
              <a:rPr sz="1950" b="0">
                <a:solidFill>
                  <a:srgbClr val="102E3B"/>
                </a:solidFill>
                <a:latin typeface="Avenir"/>
                <a:ea typeface="Avenir"/>
                <a:cs typeface="Avenir"/>
              </a:rPr>
              <a:t>affected units after</a:t>
            </a:r>
          </a:p>
          <a:p xmlns:a="http://schemas.openxmlformats.org/drawingml/2006/main">
            <a:pPr>
              <a:defRPr sz="1950" b="0">
                <a:solidFill>
                  <a:srgbClr val="102E3B"/>
                </a:solidFill>
                <a:latin typeface="Avenir"/>
                <a:ea typeface="Avenir"/>
                <a:cs typeface="Avenir"/>
              </a:defRPr>
            </a:pPr>
            <a:r>
              <a:rPr sz="1950" b="0">
                <a:solidFill>
                  <a:srgbClr val="102E3B"/>
                </a:solidFill>
                <a:latin typeface="Avenir"/>
                <a:ea typeface="Avenir"/>
                <a:cs typeface="Avenir"/>
              </a:rPr>
              <a:t>resolving the 12</a:t>
            </a:r>
          </a:p>
          <a:p xmlns:a="http://schemas.openxmlformats.org/drawingml/2006/main">
            <a:pPr>
              <a:defRPr sz="1950" b="0">
                <a:solidFill>
                  <a:srgbClr val="102E3B"/>
                </a:solidFill>
                <a:latin typeface="Avenir"/>
                <a:ea typeface="Avenir"/>
                <a:cs typeface="Avenir"/>
              </a:defRPr>
            </a:pPr>
            <a:r>
              <a:rPr sz="1950" b="0">
                <a:solidFill>
                  <a:srgbClr val="102E3B"/>
                </a:solidFill>
                <a:latin typeface="Avenir"/>
                <a:ea typeface="Avenir"/>
                <a:cs typeface="Avenir"/>
              </a:rPr>
              <a:t>unknown units to lot A</a:t>
            </a:r>
          </a:p>
        </p:txBody>
      </p:sp>
      <p:sp>
        <p:nvSpPr>
          <p:cNvPr id="7" name="">
            <a:extLst xmlns:a="http://schemas.openxmlformats.org/drawingml/2006/main">
              <a:ext uri="{FF2B5EF4-FFF2-40B4-BE49-F238E27FC236}">
                <a16:creationId xmlns:a16="http://schemas.microsoft.com/office/drawing/2014/main" id="{F1476920-E7D7-4BBF-8357-50C0128258AC}"/>
              </a:ext>
            </a:extLst>
          </p:cNvPr>
          <p:cNvSpPr>
            <a:spLocks xmlns:a="http://schemas.openxmlformats.org/drawingml/2006/main" noGrp="1"/>
          </p:cNvSpPr>
          <p:nvPr/>
        </p:nvSpPr>
        <p:spPr>
          <a:xfrm xmlns:a="http://schemas.openxmlformats.org/drawingml/2006/main">
            <a:off x="8810625" y="5010150"/>
            <a:ext cx="2771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08796B"/>
                </a:solidFill>
                <a:latin typeface="Avenir"/>
                <a:ea typeface="Avenir"/>
                <a:cs typeface="Avenir"/>
              </a:defRPr>
            </a:pPr>
            <a:r>
              <a:rPr sz="1650" b="1">
                <a:solidFill>
                  <a:srgbClr val="08796B"/>
                </a:solidFill>
                <a:latin typeface="Avenir"/>
                <a:ea typeface="Avenir"/>
                <a:cs typeface="Avenir"/>
              </a:rPr>
              <a:t>Completion requires recorded</a:t>
            </a:r>
          </a:p>
          <a:p xmlns:a="http://schemas.openxmlformats.org/drawingml/2006/main">
            <a:pPr>
              <a:defRPr sz="1650" b="1">
                <a:solidFill>
                  <a:srgbClr val="08796B"/>
                </a:solidFill>
                <a:latin typeface="Avenir"/>
                <a:ea typeface="Avenir"/>
                <a:cs typeface="Avenir"/>
              </a:defRPr>
            </a:pPr>
            <a:r>
              <a:rPr sz="1650" b="1">
                <a:solidFill>
                  <a:srgbClr val="08796B"/>
                </a:solidFill>
                <a:latin typeface="Avenir"/>
                <a:ea typeface="Avenir"/>
                <a:cs typeface="Avenir"/>
              </a:rPr>
              <a:t>disposition for all 76 units.</a:t>
            </a:r>
          </a:p>
        </p:txBody>
      </p:sp>
      <p:sp>
        <p:nvSpPr>
          <p:cNvPr id="8" name="">
            <a:extLst xmlns:a="http://schemas.openxmlformats.org/drawingml/2006/main">
              <a:ext uri="{FF2B5EF4-FFF2-40B4-BE49-F238E27FC236}">
                <a16:creationId xmlns:a16="http://schemas.microsoft.com/office/drawing/2014/main" id="{C8DA62B5-02C3-44D9-A91D-B7ADCE400679}"/>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Fictional product LL-SYR-10. Outside scope does not mean safe. Inventory figures illustrate the demo, not clinical outcomes.</a:t>
            </a:r>
          </a:p>
        </p:txBody>
      </p:sp>
    </p:spTree>
    <p:extLst>
      <p:ext uri="{BB962C8B-B14F-4D97-AF65-F5344CB8AC3E}">
        <p14:creationId xmlns:p14="http://schemas.microsoft.com/office/powerpoint/2010/main" val="1057450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D13D26-4285-43FF-AA53-4572852D000F}"/>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Target Users &amp; Impact</a:t>
            </a:r>
          </a:p>
        </p:txBody>
      </p:sp>
      <p:sp>
        <p:nvSpPr>
          <p:cNvPr id="2" name="">
            <a:extLst xmlns:a="http://schemas.openxmlformats.org/drawingml/2006/main">
              <a:ext uri="{FF2B5EF4-FFF2-40B4-BE49-F238E27FC236}">
                <a16:creationId xmlns:a16="http://schemas.microsoft.com/office/drawing/2014/main" id="{2AF52471-E4B3-457A-85BA-E4F694D6AB7E}"/>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A focused tool for small clinic groups</a:t>
            </a:r>
          </a:p>
        </p:txBody>
      </p:sp>
      <p:sp>
        <p:nvSpPr>
          <p:cNvPr id="3" name="">
            <a:extLst xmlns:a="http://schemas.openxmlformats.org/drawingml/2006/main">
              <a:ext uri="{FF2B5EF4-FFF2-40B4-BE49-F238E27FC236}">
                <a16:creationId xmlns:a16="http://schemas.microsoft.com/office/drawing/2014/main" id="{7C803B32-EC57-4C7A-87C8-7AA2187E53CA}"/>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06</a:t>
            </a:r>
          </a:p>
        </p:txBody>
      </p:sp>
      <p:sp>
        <p:nvSpPr>
          <p:cNvPr id="4" name="">
            <a:extLst xmlns:a="http://schemas.openxmlformats.org/drawingml/2006/main">
              <a:ext uri="{FF2B5EF4-FFF2-40B4-BE49-F238E27FC236}">
                <a16:creationId xmlns:a16="http://schemas.microsoft.com/office/drawing/2014/main" id="{13293C87-0807-444E-A676-554402C5BF91}"/>
              </a:ext>
            </a:extLst>
          </p:cNvPr>
          <p:cNvSpPr>
            <a:spLocks xmlns:a="http://schemas.openxmlformats.org/drawingml/2006/main" noGrp="1"/>
          </p:cNvSpPr>
          <p:nvPr/>
        </p:nvSpPr>
        <p:spPr>
          <a:xfrm xmlns:a="http://schemas.openxmlformats.org/drawingml/2006/main">
            <a:off x="609600" y="23812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8796B"/>
                </a:solidFill>
                <a:latin typeface="Avenir"/>
                <a:ea typeface="Avenir"/>
                <a:cs typeface="Avenir"/>
              </a:defRPr>
            </a:pPr>
            <a:r>
              <a:rPr sz="2175" b="1">
                <a:solidFill>
                  <a:srgbClr val="08796B"/>
                </a:solidFill>
                <a:latin typeface="Avenir"/>
                <a:ea typeface="Avenir"/>
                <a:cs typeface="Avenir"/>
              </a:rPr>
              <a:t>Who uses it</a:t>
            </a:r>
          </a:p>
        </p:txBody>
      </p:sp>
      <p:sp>
        <p:nvSpPr>
          <p:cNvPr id="5" name="">
            <a:extLst xmlns:a="http://schemas.openxmlformats.org/drawingml/2006/main">
              <a:ext uri="{FF2B5EF4-FFF2-40B4-BE49-F238E27FC236}">
                <a16:creationId xmlns:a16="http://schemas.microsoft.com/office/drawing/2014/main" id="{600B1765-23B1-424F-8678-0EBE1B3ACC32}"/>
              </a:ext>
            </a:extLst>
          </p:cNvPr>
          <p:cNvSpPr>
            <a:spLocks xmlns:a="http://schemas.openxmlformats.org/drawingml/2006/main" noGrp="1"/>
          </p:cNvSpPr>
          <p:nvPr/>
        </p:nvSpPr>
        <p:spPr>
          <a:xfrm xmlns:a="http://schemas.openxmlformats.org/drawingml/2006/main">
            <a:off x="609600" y="3038475"/>
            <a:ext cx="4905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02E3B"/>
                </a:solidFill>
                <a:latin typeface="Avenir"/>
                <a:ea typeface="Avenir"/>
                <a:cs typeface="Avenir"/>
              </a:defRPr>
            </a:pPr>
            <a:r>
              <a:rPr sz="2550" b="1">
                <a:solidFill>
                  <a:srgbClr val="102E3B"/>
                </a:solidFill>
                <a:latin typeface="Avenir"/>
                <a:ea typeface="Avenir"/>
                <a:cs typeface="Avenir"/>
              </a:rPr>
              <a:t>Operations leads who own</a:t>
            </a:r>
          </a:p>
          <a:p xmlns:a="http://schemas.openxmlformats.org/drawingml/2006/main">
            <a:pPr>
              <a:defRPr sz="2550" b="1">
                <a:solidFill>
                  <a:srgbClr val="102E3B"/>
                </a:solidFill>
                <a:latin typeface="Avenir"/>
                <a:ea typeface="Avenir"/>
                <a:cs typeface="Avenir"/>
              </a:defRPr>
            </a:pPr>
            <a:r>
              <a:rPr sz="2550" b="1">
                <a:solidFill>
                  <a:srgbClr val="102E3B"/>
                </a:solidFill>
                <a:latin typeface="Avenir"/>
                <a:ea typeface="Avenir"/>
                <a:cs typeface="Avenir"/>
              </a:rPr>
              <a:t>the response across sites</a:t>
            </a:r>
          </a:p>
        </p:txBody>
      </p:sp>
      <p:sp>
        <p:nvSpPr>
          <p:cNvPr id="6" name="">
            <a:extLst xmlns:a="http://schemas.openxmlformats.org/drawingml/2006/main">
              <a:ext uri="{FF2B5EF4-FFF2-40B4-BE49-F238E27FC236}">
                <a16:creationId xmlns:a16="http://schemas.microsoft.com/office/drawing/2014/main" id="{F2F5112D-DCE6-4A5A-892B-97F562FFE809}"/>
              </a:ext>
            </a:extLst>
          </p:cNvPr>
          <p:cNvSpPr>
            <a:spLocks xmlns:a="http://schemas.openxmlformats.org/drawingml/2006/main" noGrp="1"/>
          </p:cNvSpPr>
          <p:nvPr/>
        </p:nvSpPr>
        <p:spPr>
          <a:xfrm xmlns:a="http://schemas.openxmlformats.org/drawingml/2006/main">
            <a:off x="609600" y="4448175"/>
            <a:ext cx="4905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02E3B"/>
                </a:solidFill>
                <a:latin typeface="Avenir"/>
                <a:ea typeface="Avenir"/>
                <a:cs typeface="Avenir"/>
              </a:defRPr>
            </a:pPr>
            <a:r>
              <a:rPr sz="2175" b="0">
                <a:solidFill>
                  <a:srgbClr val="102E3B"/>
                </a:solidFill>
                <a:latin typeface="Avenir"/>
                <a:ea typeface="Avenir"/>
                <a:cs typeface="Avenir"/>
              </a:rPr>
              <a:t>Stockroom staff who identify</a:t>
            </a:r>
          </a:p>
          <a:p xmlns:a="http://schemas.openxmlformats.org/drawingml/2006/main">
            <a:pPr>
              <a:defRPr sz="2175" b="0">
                <a:solidFill>
                  <a:srgbClr val="102E3B"/>
                </a:solidFill>
                <a:latin typeface="Avenir"/>
                <a:ea typeface="Avenir"/>
                <a:cs typeface="Avenir"/>
              </a:defRPr>
            </a:pPr>
            <a:r>
              <a:rPr sz="2175" b="0">
                <a:solidFill>
                  <a:srgbClr val="102E3B"/>
                </a:solidFill>
                <a:latin typeface="Avenir"/>
                <a:ea typeface="Avenir"/>
                <a:cs typeface="Avenir"/>
              </a:rPr>
              <a:t>units and record handling</a:t>
            </a:r>
          </a:p>
        </p:txBody>
      </p:sp>
      <p:sp>
        <p:nvSpPr>
          <p:cNvPr id="7" name="">
            <a:extLst xmlns:a="http://schemas.openxmlformats.org/drawingml/2006/main">
              <a:ext uri="{FF2B5EF4-FFF2-40B4-BE49-F238E27FC236}">
                <a16:creationId xmlns:a16="http://schemas.microsoft.com/office/drawing/2014/main" id="{37606950-BD29-40F5-AA6D-F432EEB32957}"/>
              </a:ext>
            </a:extLst>
          </p:cNvPr>
          <p:cNvSpPr>
            <a:spLocks xmlns:a="http://schemas.openxmlformats.org/drawingml/2006/main" noGrp="1"/>
          </p:cNvSpPr>
          <p:nvPr/>
        </p:nvSpPr>
        <p:spPr>
          <a:xfrm xmlns:a="http://schemas.openxmlformats.org/drawingml/2006/main">
            <a:off x="6743700" y="23812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8796B"/>
                </a:solidFill>
                <a:latin typeface="Avenir"/>
                <a:ea typeface="Avenir"/>
                <a:cs typeface="Avenir"/>
              </a:defRPr>
            </a:pPr>
            <a:r>
              <a:rPr sz="2175" b="1">
                <a:solidFill>
                  <a:srgbClr val="08796B"/>
                </a:solidFill>
                <a:latin typeface="Avenir"/>
                <a:ea typeface="Avenir"/>
                <a:cs typeface="Avenir"/>
              </a:rPr>
              <a:t>What a pilot should measure</a:t>
            </a:r>
          </a:p>
        </p:txBody>
      </p:sp>
      <p:sp>
        <p:nvSpPr>
          <p:cNvPr id="8" name="">
            <a:extLst xmlns:a="http://schemas.openxmlformats.org/drawingml/2006/main">
              <a:ext uri="{FF2B5EF4-FFF2-40B4-BE49-F238E27FC236}">
                <a16:creationId xmlns:a16="http://schemas.microsoft.com/office/drawing/2014/main" id="{FCBC2FB5-44CF-4341-8E60-7A17CB17756B}"/>
              </a:ext>
            </a:extLst>
          </p:cNvPr>
          <p:cNvSpPr>
            <a:spLocks xmlns:a="http://schemas.openxmlformats.org/drawingml/2006/main" noGrp="1"/>
          </p:cNvSpPr>
          <p:nvPr/>
        </p:nvSpPr>
        <p:spPr>
          <a:xfrm xmlns:a="http://schemas.openxmlformats.org/drawingml/2006/main">
            <a:off x="6743700" y="3038475"/>
            <a:ext cx="481012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Time spent investigating a recall</a:t>
            </a:r>
          </a:p>
          <a:p xmlns:a="http://schemas.openxmlformats.org/drawingml/2006/main">
            <a:r>
              <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Stock records fully accounted for</a:t>
            </a:r>
          </a:p>
          <a:p xmlns:a="http://schemas.openxmlformats.org/drawingml/2006/main">
            <a:r>
              <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Completeness of the response record</a:t>
            </a:r>
          </a:p>
        </p:txBody>
      </p:sp>
      <p:sp>
        <p:nvSpPr>
          <p:cNvPr id="9" name="">
            <a:extLst xmlns:a="http://schemas.openxmlformats.org/drawingml/2006/main">
              <a:ext uri="{FF2B5EF4-FFF2-40B4-BE49-F238E27FC236}">
                <a16:creationId xmlns:a16="http://schemas.microsoft.com/office/drawing/2014/main" id="{C1FDCB79-36AA-4481-A89D-F51333CB1B81}"/>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First-market hypothesis: small US clinic groups handling device consumables. Benefits await field validation.</a:t>
            </a:r>
          </a:p>
        </p:txBody>
      </p:sp>
    </p:spTree>
    <p:extLst>
      <p:ext uri="{BB962C8B-B14F-4D97-AF65-F5344CB8AC3E}">
        <p14:creationId xmlns:p14="http://schemas.microsoft.com/office/powerpoint/2010/main" val="13807626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954BAE-B049-468B-86E2-D24F89552553}"/>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Commercial model</a:t>
            </a:r>
          </a:p>
        </p:txBody>
      </p:sp>
      <p:sp>
        <p:nvSpPr>
          <p:cNvPr id="2" name="">
            <a:extLst xmlns:a="http://schemas.openxmlformats.org/drawingml/2006/main">
              <a:ext uri="{FF2B5EF4-FFF2-40B4-BE49-F238E27FC236}">
                <a16:creationId xmlns:a16="http://schemas.microsoft.com/office/drawing/2014/main" id="{449D633A-D009-42DE-B40A-FAA8B88BA4F3}"/>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A subscription needs measurable value</a:t>
            </a:r>
          </a:p>
        </p:txBody>
      </p:sp>
      <p:sp>
        <p:nvSpPr>
          <p:cNvPr id="3" name="">
            <a:extLst xmlns:a="http://schemas.openxmlformats.org/drawingml/2006/main">
              <a:ext uri="{FF2B5EF4-FFF2-40B4-BE49-F238E27FC236}">
                <a16:creationId xmlns:a16="http://schemas.microsoft.com/office/drawing/2014/main" id="{6FE22AC0-882E-44D4-9045-EE26981BCD5E}"/>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07</a:t>
            </a:r>
          </a:p>
        </p:txBody>
      </p:sp>
      <p:sp>
        <p:nvSpPr>
          <p:cNvPr id="4" name="">
            <a:extLst xmlns:a="http://schemas.openxmlformats.org/drawingml/2006/main">
              <a:ext uri="{FF2B5EF4-FFF2-40B4-BE49-F238E27FC236}">
                <a16:creationId xmlns:a16="http://schemas.microsoft.com/office/drawing/2014/main" id="{BAC78DB7-F8A3-4DA2-9D26-7C3E5ECCED51}"/>
              </a:ext>
            </a:extLst>
          </p:cNvPr>
          <p:cNvSpPr>
            <a:spLocks xmlns:a="http://schemas.openxmlformats.org/drawingml/2006/main" noGrp="1"/>
          </p:cNvSpPr>
          <p:nvPr/>
        </p:nvSpPr>
        <p:spPr>
          <a:xfrm xmlns:a="http://schemas.openxmlformats.org/drawingml/2006/main">
            <a:off x="609600" y="22098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8796B"/>
                </a:solidFill>
                <a:latin typeface="Avenir"/>
                <a:ea typeface="Avenir"/>
                <a:cs typeface="Avenir"/>
              </a:defRPr>
            </a:pPr>
            <a:r>
              <a:rPr sz="1800" b="1">
                <a:solidFill>
                  <a:srgbClr val="08796B"/>
                </a:solidFill>
                <a:latin typeface="Avenir"/>
                <a:ea typeface="Avenir"/>
                <a:cs typeface="Avenir"/>
              </a:rPr>
              <a:t>Potential buyer</a:t>
            </a:r>
          </a:p>
        </p:txBody>
      </p:sp>
      <p:sp>
        <p:nvSpPr>
          <p:cNvPr id="5" name="">
            <a:extLst xmlns:a="http://schemas.openxmlformats.org/drawingml/2006/main">
              <a:ext uri="{FF2B5EF4-FFF2-40B4-BE49-F238E27FC236}">
                <a16:creationId xmlns:a16="http://schemas.microsoft.com/office/drawing/2014/main" id="{A1B5F498-00B2-4D69-BBAE-A40833EED6C4}"/>
              </a:ext>
            </a:extLst>
          </p:cNvPr>
          <p:cNvSpPr>
            <a:spLocks xmlns:a="http://schemas.openxmlformats.org/drawingml/2006/main" noGrp="1"/>
          </p:cNvSpPr>
          <p:nvPr/>
        </p:nvSpPr>
        <p:spPr>
          <a:xfrm xmlns:a="http://schemas.openxmlformats.org/drawingml/2006/main">
            <a:off x="609600" y="2733675"/>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1">
                <a:solidFill>
                  <a:srgbClr val="102E3B"/>
                </a:solidFill>
                <a:latin typeface="Avenir"/>
                <a:ea typeface="Avenir"/>
                <a:cs typeface="Avenir"/>
              </a:defRPr>
            </a:pPr>
            <a:r>
              <a:rPr sz="2850" b="1">
                <a:solidFill>
                  <a:srgbClr val="102E3B"/>
                </a:solidFill>
                <a:latin typeface="Avenir"/>
                <a:ea typeface="Avenir"/>
                <a:cs typeface="Avenir"/>
              </a:rPr>
              <a:t>Clinic group or</a:t>
            </a:r>
          </a:p>
          <a:p xmlns:a="http://schemas.openxmlformats.org/drawingml/2006/main">
            <a:pPr>
              <a:defRPr sz="2850" b="1">
                <a:solidFill>
                  <a:srgbClr val="102E3B"/>
                </a:solidFill>
                <a:latin typeface="Avenir"/>
                <a:ea typeface="Avenir"/>
                <a:cs typeface="Avenir"/>
              </a:defRPr>
            </a:pPr>
            <a:r>
              <a:rPr sz="2850" b="1">
                <a:solidFill>
                  <a:srgbClr val="102E3B"/>
                </a:solidFill>
                <a:latin typeface="Avenir"/>
                <a:ea typeface="Avenir"/>
                <a:cs typeface="Avenir"/>
              </a:rPr>
              <a:t>distributor sponsor</a:t>
            </a:r>
          </a:p>
        </p:txBody>
      </p:sp>
      <p:sp>
        <p:nvSpPr>
          <p:cNvPr id="6" name="">
            <a:extLst xmlns:a="http://schemas.openxmlformats.org/drawingml/2006/main">
              <a:ext uri="{FF2B5EF4-FFF2-40B4-BE49-F238E27FC236}">
                <a16:creationId xmlns:a16="http://schemas.microsoft.com/office/drawing/2014/main" id="{30A99C85-15D3-4373-A298-CEC0258BC439}"/>
              </a:ext>
            </a:extLst>
          </p:cNvPr>
          <p:cNvSpPr>
            <a:spLocks xmlns:a="http://schemas.openxmlformats.org/drawingml/2006/main" noGrp="1"/>
          </p:cNvSpPr>
          <p:nvPr/>
        </p:nvSpPr>
        <p:spPr>
          <a:xfrm xmlns:a="http://schemas.openxmlformats.org/drawingml/2006/main">
            <a:off x="609600" y="40290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08796B"/>
                </a:solidFill>
                <a:latin typeface="Avenir"/>
                <a:ea typeface="Avenir"/>
                <a:cs typeface="Avenir"/>
              </a:defRPr>
            </a:pPr>
            <a:r>
              <a:rPr sz="1650" b="1">
                <a:solidFill>
                  <a:srgbClr val="08796B"/>
                </a:solidFill>
                <a:latin typeface="Avenir"/>
                <a:ea typeface="Avenir"/>
                <a:cs typeface="Avenir"/>
              </a:rPr>
              <a:t>Pricing experiment</a:t>
            </a:r>
          </a:p>
        </p:txBody>
      </p:sp>
      <p:sp>
        <p:nvSpPr>
          <p:cNvPr id="7" name="">
            <a:extLst xmlns:a="http://schemas.openxmlformats.org/drawingml/2006/main">
              <a:ext uri="{FF2B5EF4-FFF2-40B4-BE49-F238E27FC236}">
                <a16:creationId xmlns:a16="http://schemas.microsoft.com/office/drawing/2014/main" id="{2FF75C5F-4E11-4898-A337-A6DADECFFC86}"/>
              </a:ext>
            </a:extLst>
          </p:cNvPr>
          <p:cNvSpPr>
            <a:spLocks xmlns:a="http://schemas.openxmlformats.org/drawingml/2006/main" noGrp="1"/>
          </p:cNvSpPr>
          <p:nvPr/>
        </p:nvSpPr>
        <p:spPr>
          <a:xfrm xmlns:a="http://schemas.openxmlformats.org/drawingml/2006/main">
            <a:off x="609600" y="4448175"/>
            <a:ext cx="4838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02E3B"/>
                </a:solidFill>
                <a:latin typeface="Avenir"/>
                <a:ea typeface="Avenir"/>
                <a:cs typeface="Avenir"/>
              </a:defRPr>
            </a:pPr>
            <a:r>
              <a:rPr sz="2625" b="1">
                <a:solidFill>
                  <a:srgbClr val="102E3B"/>
                </a:solidFill>
                <a:latin typeface="Avenir"/>
                <a:ea typeface="Avenir"/>
                <a:cs typeface="Avenir"/>
              </a:rPr>
              <a:t>$99 / group / month</a:t>
            </a:r>
          </a:p>
        </p:txBody>
      </p:sp>
      <p:sp>
        <p:nvSpPr>
          <p:cNvPr id="8" name="">
            <a:extLst xmlns:a="http://schemas.openxmlformats.org/drawingml/2006/main">
              <a:ext uri="{FF2B5EF4-FFF2-40B4-BE49-F238E27FC236}">
                <a16:creationId xmlns:a16="http://schemas.microsoft.com/office/drawing/2014/main" id="{9C580237-884F-4BF8-A3E6-596D38C4AF69}"/>
              </a:ext>
            </a:extLst>
          </p:cNvPr>
          <p:cNvSpPr>
            <a:spLocks xmlns:a="http://schemas.openxmlformats.org/drawingml/2006/main" noGrp="1"/>
          </p:cNvSpPr>
          <p:nvPr/>
        </p:nvSpPr>
        <p:spPr>
          <a:xfrm xmlns:a="http://schemas.openxmlformats.org/drawingml/2006/main">
            <a:off x="609600" y="5133975"/>
            <a:ext cx="4819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6707B"/>
                </a:solidFill>
                <a:latin typeface="Avenir"/>
                <a:ea typeface="Avenir"/>
                <a:cs typeface="Avenir"/>
              </a:defRPr>
            </a:pPr>
            <a:r>
              <a:rPr sz="1575" b="0">
                <a:solidFill>
                  <a:srgbClr val="56707B"/>
                </a:solidFill>
                <a:latin typeface="Avenir"/>
                <a:ea typeface="Avenir"/>
                <a:cs typeface="Avenir"/>
              </a:rPr>
              <a:t>3 sites included. $19 per additional site.</a:t>
            </a:r>
          </a:p>
          <a:p xmlns:a="http://schemas.openxmlformats.org/drawingml/2006/main">
            <a:pPr>
              <a:defRPr sz="1575" b="0">
                <a:solidFill>
                  <a:srgbClr val="56707B"/>
                </a:solidFill>
                <a:latin typeface="Avenir"/>
                <a:ea typeface="Avenir"/>
                <a:cs typeface="Avenir"/>
              </a:defRPr>
            </a:pPr>
            <a:r>
              <a:rPr sz="1575" b="0">
                <a:solidFill>
                  <a:srgbClr val="56707B"/>
                </a:solidFill>
                <a:latin typeface="Avenir"/>
                <a:ea typeface="Avenir"/>
                <a:cs typeface="Avenir"/>
              </a:rPr>
              <a:t>Price and willingness to pay are unvalidated.</a:t>
            </a:r>
          </a:p>
        </p:txBody>
      </p:sp>
      <p:graphicFrame>
        <p:nvGraphicFramePr>
          <p:cNvPr id="19" name=""/>
          <p:cNvGraphicFramePr/>
          <p:nvPr/>
        </p:nvGraphicFramePr>
        <p:xfrm>
          <a:off xmlns:a="http://schemas.openxmlformats.org/drawingml/2006/main" x="6229350" y="2219325"/>
          <a:ext xmlns:a="http://schemas.openxmlformats.org/drawingml/2006/main" cx="5334000" cy="3152775"/>
        </p:xfrm>
        <a:graphic xmlns:a="http://schemas.openxmlformats.org/drawingml/2006/main">
          <a:graphicData uri="http://schemas.openxmlformats.org/drawingml/2006/table">
            <a:tbl>
              <a:tblPr/>
              <a:tblGrid>
                <a:gridCol w="2524125"/>
                <a:gridCol w="2809875"/>
              </a:tblGrid>
              <a:tr h="788194">
                <a:tc>
                  <a:txBody>
                    <a:bodyPr lIns="133350" tIns="114300" rIns="114300" bIns="95250"/>
                    <a:lstStyle/>
                    <a:p>
                      <a:r>
                        <a:rPr sz="1350" b="1">
                          <a:solidFill>
                            <a:srgbClr val="FFFFFF"/>
                          </a:solidFill>
                          <a:latin typeface="Avenir"/>
                          <a:ea typeface="Avenir"/>
                          <a:cs typeface="Avenir"/>
                        </a:rPr>
                        <a:t>Existing products</a:t>
                      </a:r>
                    </a:p>
                  </a:txBody>
                  <a:tcPr marL="91440" marR="91440" marT="45720" marB="45720" anchor="ctr">
                    <a:solidFill>
                      <a:srgbClr val="102E3B"/>
                    </a:solidFill>
                  </a:tcPr>
                </a:tc>
                <a:tc>
                  <a:txBody>
                    <a:bodyPr lIns="133350" tIns="114300" rIns="114300" bIns="95250"/>
                    <a:lstStyle/>
                    <a:p>
                      <a:r>
                        <a:rPr sz="1350" b="1">
                          <a:solidFill>
                            <a:srgbClr val="FFFFFF"/>
                          </a:solidFill>
                          <a:latin typeface="Avenir"/>
                          <a:ea typeface="Avenir"/>
                          <a:cs typeface="Avenir"/>
                        </a:rPr>
                        <a:t>Lotline hypothesis</a:t>
                      </a:r>
                    </a:p>
                  </a:txBody>
                  <a:tcPr marL="91440" marR="91440" marT="45720" marB="45720" anchor="ctr">
                    <a:solidFill>
                      <a:srgbClr val="102E3B"/>
                    </a:solidFill>
                  </a:tcPr>
                </a:tc>
              </a:tr>
              <a:tr h="788194">
                <a:tc>
                  <a:txBody>
                    <a:bodyPr lIns="133350" tIns="114300" rIns="114300" bIns="95250"/>
                    <a:lstStyle/>
                    <a:p>
                      <a:r>
                        <a:rPr sz="1650" b="0">
                          <a:solidFill>
                            <a:srgbClr val="102E3B"/>
                          </a:solidFill>
                          <a:latin typeface="Avenir"/>
                          <a:ea typeface="Avenir"/>
                          <a:cs typeface="Avenir"/>
                        </a:rPr>
                        <a:t>Staritas (formerly ECRI)</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Simpler setup for small groups</a:t>
                      </a:r>
                    </a:p>
                  </a:txBody>
                  <a:tcPr marL="91440" marR="91440" marT="45720" marB="45720" anchor="ctr">
                    <a:solidFill>
                      <a:srgbClr val="F1F6F5"/>
                    </a:solidFill>
                  </a:tcPr>
                </a:tc>
              </a:tr>
              <a:tr h="788194">
                <a:tc>
                  <a:txBody>
                    <a:bodyPr lIns="133350" tIns="114300" rIns="114300" bIns="95250"/>
                    <a:lstStyle/>
                    <a:p>
                      <a:r>
                        <a:rPr sz="1650" b="0">
                          <a:solidFill>
                            <a:srgbClr val="102E3B"/>
                          </a:solidFill>
                          <a:latin typeface="Avenir"/>
                          <a:ea typeface="Avenir"/>
                          <a:cs typeface="Avenir"/>
                        </a:rPr>
                        <a:t>GHX: inventory traceability</a:t>
                      </a:r>
                    </a:p>
                  </a:txBody>
                  <a:tcPr marL="91440" marR="91440" marT="45720" marB="45720" anchor="ctr">
                    <a:solidFill>
                      <a:srgbClr val="FFFFFF"/>
                    </a:solidFill>
                  </a:tcPr>
                </a:tc>
                <a:tc>
                  <a:txBody>
                    <a:bodyPr lIns="133350" tIns="114300" rIns="114300" bIns="95250"/>
                    <a:lstStyle/>
                    <a:p>
                      <a:r>
                        <a:rPr sz="1650" b="0">
                          <a:solidFill>
                            <a:srgbClr val="102E3B"/>
                          </a:solidFill>
                          <a:latin typeface="Avenir"/>
                          <a:ea typeface="Avenir"/>
                          <a:cs typeface="Avenir"/>
                        </a:rPr>
                        <a:t>Work with basic stock exports</a:t>
                      </a:r>
                    </a:p>
                  </a:txBody>
                  <a:tcPr marL="91440" marR="91440" marT="45720" marB="45720" anchor="ctr">
                    <a:solidFill>
                      <a:srgbClr val="FFFFFF"/>
                    </a:solidFill>
                  </a:tcPr>
                </a:tc>
              </a:tr>
              <a:tr h="788194">
                <a:tc>
                  <a:txBody>
                    <a:bodyPr lIns="133350" tIns="114300" rIns="114300" bIns="95250"/>
                    <a:lstStyle/>
                    <a:p>
                      <a:r>
                        <a:rPr sz="1650" b="0">
                          <a:solidFill>
                            <a:srgbClr val="102E3B"/>
                          </a:solidFill>
                          <a:latin typeface="Avenir"/>
                          <a:ea typeface="Avenir"/>
                          <a:cs typeface="Avenir"/>
                        </a:rPr>
                        <a:t>Recall feeds and watchlists</a:t>
                      </a:r>
                    </a:p>
                  </a:txBody>
                  <a:tcPr marL="91440" marR="91440" marT="45720" marB="45720" anchor="ctr">
                    <a:solidFill>
                      <a:srgbClr val="F1F6F5"/>
                    </a:solidFill>
                  </a:tcPr>
                </a:tc>
                <a:tc>
                  <a:txBody>
                    <a:bodyPr lIns="133350" tIns="114300" rIns="114300" bIns="95250"/>
                    <a:lstStyle/>
                    <a:p>
                      <a:r>
                        <a:rPr sz="1650" b="0">
                          <a:solidFill>
                            <a:srgbClr val="102E3B"/>
                          </a:solidFill>
                          <a:latin typeface="Avenir"/>
                          <a:ea typeface="Avenir"/>
                          <a:cs typeface="Avenir"/>
                        </a:rPr>
                        <a:t>Charge for response accounting</a:t>
                      </a:r>
                    </a:p>
                  </a:txBody>
                  <a:tcPr marL="91440" marR="91440" marT="45720" marB="45720" anchor="ctr">
                    <a:solidFill>
                      <a:srgbClr val="F1F6F5"/>
                    </a:solidFill>
                  </a:tcPr>
                </a:tc>
              </a:tr>
            </a:tbl>
          </a:graphicData>
        </a:graphic>
      </p:graphicFrame>
      <p:sp>
        <p:nvSpPr>
          <p:cNvPr id="10" name="">
            <a:extLst xmlns:a="http://schemas.openxmlformats.org/drawingml/2006/main">
              <a:ext uri="{FF2B5EF4-FFF2-40B4-BE49-F238E27FC236}">
                <a16:creationId xmlns:a16="http://schemas.microsoft.com/office/drawing/2014/main" id="{6B0F3AFC-81AE-49CD-8EF4-C1A98CEE812B}"/>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Sources: </a:t>
            </a:r>
            <a:r>
              <a:rPr sz="1200" b="0">
                <a:solidFill>
                  <a:srgbClr val="56707B"/>
                </a:solidFill>
                <a:latin typeface="Avenir"/>
                <a:ea typeface="Avenir"/>
                <a:cs typeface="Avenir"/>
                <a:hlinkClick xmlns:r="http://schemas.openxmlformats.org/officeDocument/2006/relationships" r:id="R14b6d5a53a2343ab"/>
              </a:rPr>
              <a:t>Staritas</a:t>
            </a:r>
            <a:r>
              <a:rPr sz="1200" b="0">
                <a:solidFill>
                  <a:srgbClr val="56707B"/>
                </a:solidFill>
                <a:latin typeface="Avenir"/>
                <a:ea typeface="Avenir"/>
                <a:cs typeface="Avenir"/>
              </a:rPr>
              <a:t> (formerly </a:t>
            </a:r>
            <a:r>
              <a:rPr sz="1200" b="0">
                <a:solidFill>
                  <a:srgbClr val="56707B"/>
                </a:solidFill>
                <a:latin typeface="Avenir"/>
                <a:ea typeface="Avenir"/>
                <a:cs typeface="Avenir"/>
                <a:hlinkClick xmlns:r="http://schemas.openxmlformats.org/officeDocument/2006/relationships" r:id="R86124f0168f94453"/>
              </a:rPr>
              <a:t>ECRI</a:t>
            </a:r>
            <a:r>
              <a:rPr sz="1200" b="0">
                <a:solidFill>
                  <a:srgbClr val="56707B"/>
                </a:solidFill>
                <a:latin typeface="Avenir"/>
                <a:ea typeface="Avenir"/>
                <a:cs typeface="Avenir"/>
              </a:rPr>
              <a:t>) and </a:t>
            </a:r>
            <a:r>
              <a:rPr sz="1200" b="0">
                <a:solidFill>
                  <a:srgbClr val="56707B"/>
                </a:solidFill>
                <a:latin typeface="Avenir"/>
                <a:ea typeface="Avenir"/>
                <a:cs typeface="Avenir"/>
                <a:hlinkClick xmlns:r="http://schemas.openxmlformats.org/officeDocument/2006/relationships" r:id="R9f6f499306ee4c78"/>
              </a:rPr>
              <a:t>GHX</a:t>
            </a:r>
            <a:r>
              <a:rPr sz="1200" b="0">
                <a:solidFill>
                  <a:srgbClr val="56707B"/>
                </a:solidFill>
                <a:latin typeface="Avenir"/>
                <a:ea typeface="Avenir"/>
                <a:cs typeface="Avenir"/>
              </a:rPr>
              <a:t>. Proposed pricing only. No customers, revenue or partnerships claimed.</a:t>
            </a:r>
          </a:p>
        </p:txBody>
      </p:sp>
    </p:spTree>
    <p:extLst>
      <p:ext uri="{BB962C8B-B14F-4D97-AF65-F5344CB8AC3E}">
        <p14:creationId xmlns:p14="http://schemas.microsoft.com/office/powerpoint/2010/main" val="18116672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582BEB-3616-4F1F-8081-62B6ED1BD6C8}"/>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Implementation Approach</a:t>
            </a:r>
          </a:p>
        </p:txBody>
      </p:sp>
      <p:sp>
        <p:nvSpPr>
          <p:cNvPr id="2" name="">
            <a:extLst xmlns:a="http://schemas.openxmlformats.org/drawingml/2006/main">
              <a:ext uri="{FF2B5EF4-FFF2-40B4-BE49-F238E27FC236}">
                <a16:creationId xmlns:a16="http://schemas.microsoft.com/office/drawing/2014/main" id="{6D8ADDFF-671D-4FFE-A6D7-D69AA6ADDB8A}"/>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A working MVP, with clear launch gates</a:t>
            </a:r>
          </a:p>
        </p:txBody>
      </p:sp>
      <p:sp>
        <p:nvSpPr>
          <p:cNvPr id="3" name="">
            <a:extLst xmlns:a="http://schemas.openxmlformats.org/drawingml/2006/main">
              <a:ext uri="{FF2B5EF4-FFF2-40B4-BE49-F238E27FC236}">
                <a16:creationId xmlns:a16="http://schemas.microsoft.com/office/drawing/2014/main" id="{333E9BA5-451A-471A-902E-852E4270E6DA}"/>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08</a:t>
            </a:r>
          </a:p>
        </p:txBody>
      </p:sp>
      <p:sp>
        <p:nvSpPr>
          <p:cNvPr id="4" name="">
            <a:extLst xmlns:a="http://schemas.openxmlformats.org/drawingml/2006/main">
              <a:ext uri="{FF2B5EF4-FFF2-40B4-BE49-F238E27FC236}">
                <a16:creationId xmlns:a16="http://schemas.microsoft.com/office/drawing/2014/main" id="{90C2B4DB-5FAE-4907-BE03-EE292DC474E2}"/>
              </a:ext>
            </a:extLst>
          </p:cNvPr>
          <p:cNvSpPr>
            <a:spLocks xmlns:a="http://schemas.openxmlformats.org/drawingml/2006/main" noGrp="1"/>
          </p:cNvSpPr>
          <p:nvPr/>
        </p:nvSpPr>
        <p:spPr>
          <a:xfrm xmlns:a="http://schemas.openxmlformats.org/drawingml/2006/main">
            <a:off x="609600" y="24288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8796B"/>
                </a:solidFill>
                <a:latin typeface="Avenir"/>
                <a:ea typeface="Avenir"/>
                <a:cs typeface="Avenir"/>
              </a:defRPr>
            </a:pPr>
            <a:r>
              <a:rPr sz="2175" b="1">
                <a:solidFill>
                  <a:srgbClr val="08796B"/>
                </a:solidFill>
                <a:latin typeface="Avenir"/>
                <a:ea typeface="Avenir"/>
                <a:cs typeface="Avenir"/>
              </a:rPr>
              <a:t>Prototype workflow</a:t>
            </a:r>
          </a:p>
        </p:txBody>
      </p:sp>
      <p:sp>
        <p:nvSpPr>
          <p:cNvPr id="5" name="">
            <a:extLst xmlns:a="http://schemas.openxmlformats.org/drawingml/2006/main">
              <a:ext uri="{FF2B5EF4-FFF2-40B4-BE49-F238E27FC236}">
                <a16:creationId xmlns:a16="http://schemas.microsoft.com/office/drawing/2014/main" id="{BA95BBEB-9097-48EE-8D3C-0493DBF1DAB5}"/>
              </a:ext>
            </a:extLst>
          </p:cNvPr>
          <p:cNvSpPr>
            <a:spLocks xmlns:a="http://schemas.openxmlformats.org/drawingml/2006/main" noGrp="1"/>
          </p:cNvSpPr>
          <p:nvPr/>
        </p:nvSpPr>
        <p:spPr>
          <a:xfrm xmlns:a="http://schemas.openxmlformats.org/drawingml/2006/main">
            <a:off x="609600" y="3124200"/>
            <a:ext cx="50863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Reviewed scope and stock import</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Deterministic matching and resolution</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Disposition accounting and receipt</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Authenticated account workspaces</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Persistent storage in D1</a:t>
            </a:r>
          </a:p>
        </p:txBody>
      </p:sp>
      <p:sp>
        <p:nvSpPr>
          <p:cNvPr id="6" name="">
            <a:extLst xmlns:a="http://schemas.openxmlformats.org/drawingml/2006/main">
              <a:ext uri="{FF2B5EF4-FFF2-40B4-BE49-F238E27FC236}">
                <a16:creationId xmlns:a16="http://schemas.microsoft.com/office/drawing/2014/main" id="{1535B685-B786-4668-98F1-C3F050AE0070}"/>
              </a:ext>
            </a:extLst>
          </p:cNvPr>
          <p:cNvSpPr>
            <a:spLocks xmlns:a="http://schemas.openxmlformats.org/drawingml/2006/main" noGrp="1"/>
          </p:cNvSpPr>
          <p:nvPr/>
        </p:nvSpPr>
        <p:spPr>
          <a:xfrm xmlns:a="http://schemas.openxmlformats.org/drawingml/2006/main">
            <a:off x="6705600" y="2428875"/>
            <a:ext cx="4886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8796B"/>
                </a:solidFill>
                <a:latin typeface="Avenir"/>
                <a:ea typeface="Avenir"/>
                <a:cs typeface="Avenir"/>
              </a:defRPr>
            </a:pPr>
            <a:r>
              <a:rPr sz="2175" b="1">
                <a:solidFill>
                  <a:srgbClr val="08796B"/>
                </a:solidFill>
                <a:latin typeface="Avenir"/>
                <a:ea typeface="Avenir"/>
                <a:cs typeface="Avenir"/>
              </a:rPr>
              <a:t>Before clinical deployment</a:t>
            </a:r>
          </a:p>
        </p:txBody>
      </p:sp>
      <p:sp>
        <p:nvSpPr>
          <p:cNvPr id="7" name="">
            <a:extLst xmlns:a="http://schemas.openxmlformats.org/drawingml/2006/main">
              <a:ext uri="{FF2B5EF4-FFF2-40B4-BE49-F238E27FC236}">
                <a16:creationId xmlns:a16="http://schemas.microsoft.com/office/drawing/2014/main" id="{EC8B7F04-0598-4E6B-A71F-1E7228374176}"/>
              </a:ext>
            </a:extLst>
          </p:cNvPr>
          <p:cNvSpPr>
            <a:spLocks xmlns:a="http://schemas.openxmlformats.org/drawingml/2006/main" noGrp="1"/>
          </p:cNvSpPr>
          <p:nvPr/>
        </p:nvSpPr>
        <p:spPr>
          <a:xfrm xmlns:a="http://schemas.openxmlformats.org/drawingml/2006/main">
            <a:off x="6705600" y="3124200"/>
            <a:ext cx="48672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Supervised operational validation</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Shared organization roles and approvals</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Authoritative notice ingestion</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Retention and recovery controls</a:t>
            </a:r>
          </a:p>
          <a:p xmlns:a="http://schemas.openxmlformats.org/drawingml/2006/main">
            <a:pPr>
              <a:defRPr sz="2025" b="0">
                <a:solidFill>
                  <a:srgbClr val="102E3B"/>
                </a:solidFill>
                <a:latin typeface="Avenir"/>
                <a:ea typeface="Avenir"/>
                <a:cs typeface="Avenir"/>
              </a:defRPr>
            </a:pPr>
            <a:r>
              <a:rPr sz="2025" b="0">
                <a:solidFill>
                  <a:srgbClr val="102E3B"/>
                </a:solidFill>
                <a:latin typeface="Avenir"/>
                <a:ea typeface="Avenir"/>
                <a:cs typeface="Avenir"/>
              </a:rPr>
              <a:t>Security review and customer approval</a:t>
            </a:r>
          </a:p>
        </p:txBody>
      </p:sp>
      <p:sp>
        <p:nvSpPr>
          <p:cNvPr id="8" name="">
            <a:extLst xmlns:a="http://schemas.openxmlformats.org/drawingml/2006/main">
              <a:ext uri="{FF2B5EF4-FFF2-40B4-BE49-F238E27FC236}">
                <a16:creationId xmlns:a16="http://schemas.microsoft.com/office/drawing/2014/main" id="{DD795C53-6951-413A-9A69-81EE3528CED4}"/>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48 deterministic core tests pass. Clinical validation, security certification and regulatory approval are not claimed.</a:t>
            </a:r>
          </a:p>
        </p:txBody>
      </p:sp>
    </p:spTree>
    <p:extLst>
      <p:ext uri="{BB962C8B-B14F-4D97-AF65-F5344CB8AC3E}">
        <p14:creationId xmlns:p14="http://schemas.microsoft.com/office/powerpoint/2010/main" val="59033972"/>
      </p:ext>
    </p:extLst>
  </p:cSld>
</p:sld>
</file>

<file path=ppt/slides/slide9.xml><?xml version="1.0" encoding="utf-8"?>
<p:sld xmlns:p="http://schemas.openxmlformats.org/presentationml/2006/main">
  <p:cSld>
    <p:bg>
      <p:bgPr>
        <a:solidFill xmlns:a="http://schemas.openxmlformats.org/drawingml/2006/main">
          <a:srgbClr val="102E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48BB85-C1E0-40E3-9B20-3827CF21FDC2}"/>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CDEE99"/>
                </a:solidFill>
                <a:latin typeface="Avenir"/>
                <a:ea typeface="Avenir"/>
                <a:cs typeface="Avenir"/>
              </a:defRPr>
            </a:pPr>
            <a:r>
              <a:rPr sz="1275" b="1">
                <a:solidFill>
                  <a:srgbClr val="CDEE99"/>
                </a:solidFill>
                <a:latin typeface="Avenir"/>
                <a:ea typeface="Avenir"/>
                <a:cs typeface="Avenir"/>
              </a:rPr>
              <a:t>Validation plan</a:t>
            </a:r>
          </a:p>
        </p:txBody>
      </p:sp>
      <p:sp>
        <p:nvSpPr>
          <p:cNvPr id="2" name="">
            <a:extLst xmlns:a="http://schemas.openxmlformats.org/drawingml/2006/main">
              <a:ext uri="{FF2B5EF4-FFF2-40B4-BE49-F238E27FC236}">
                <a16:creationId xmlns:a16="http://schemas.microsoft.com/office/drawing/2014/main" id="{2E582C3B-39FD-473B-8765-6C040234590A}"/>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FFFFFF"/>
                </a:solidFill>
                <a:latin typeface="Avenir"/>
                <a:ea typeface="Avenir"/>
                <a:cs typeface="Avenir"/>
              </a:defRPr>
            </a:pPr>
            <a:r>
              <a:rPr sz="3600" b="1">
                <a:solidFill>
                  <a:srgbClr val="FFFFFF"/>
                </a:solidFill>
                <a:latin typeface="Avenir"/>
                <a:ea typeface="Avenir"/>
                <a:cs typeface="Avenir"/>
              </a:rPr>
              <a:t>A four-week pilot would test the business</a:t>
            </a:r>
          </a:p>
        </p:txBody>
      </p:sp>
      <p:sp>
        <p:nvSpPr>
          <p:cNvPr id="3" name="">
            <a:extLst xmlns:a="http://schemas.openxmlformats.org/drawingml/2006/main">
              <a:ext uri="{FF2B5EF4-FFF2-40B4-BE49-F238E27FC236}">
                <a16:creationId xmlns:a16="http://schemas.microsoft.com/office/drawing/2014/main" id="{F77553D9-BDC2-4C43-B05A-588AD3B530ED}"/>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B6C9CF"/>
                </a:solidFill>
                <a:latin typeface="Avenir"/>
                <a:ea typeface="Avenir"/>
                <a:cs typeface="Avenir"/>
              </a:defRPr>
            </a:pPr>
            <a:r>
              <a:rPr sz="1050" b="0">
                <a:solidFill>
                  <a:srgbClr val="B6C9CF"/>
                </a:solidFill>
                <a:latin typeface="Avenir"/>
                <a:ea typeface="Avenir"/>
                <a:cs typeface="Avenir"/>
              </a:rPr>
              <a:t>LOTLINE   /   09</a:t>
            </a:r>
          </a:p>
        </p:txBody>
      </p:sp>
      <p:sp>
        <p:nvSpPr>
          <p:cNvPr id="4" name="">
            <a:extLst xmlns:a="http://schemas.openxmlformats.org/drawingml/2006/main">
              <a:ext uri="{FF2B5EF4-FFF2-40B4-BE49-F238E27FC236}">
                <a16:creationId xmlns:a16="http://schemas.microsoft.com/office/drawing/2014/main" id="{79175849-A5C9-4B86-A566-D06B0DD93A62}"/>
              </a:ext>
            </a:extLst>
          </p:cNvPr>
          <p:cNvSpPr>
            <a:spLocks xmlns:a="http://schemas.openxmlformats.org/drawingml/2006/main" noGrp="1"/>
          </p:cNvSpPr>
          <p:nvPr/>
        </p:nvSpPr>
        <p:spPr>
          <a:xfrm xmlns:a="http://schemas.openxmlformats.org/drawingml/2006/main">
            <a:off x="609600" y="2400300"/>
            <a:ext cx="47339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CDEE99"/>
                </a:solidFill>
                <a:latin typeface="Avenir"/>
                <a:ea typeface="Avenir"/>
                <a:cs typeface="Avenir"/>
              </a:defRPr>
            </a:pPr>
            <a:r>
              <a:rPr sz="4650" b="1">
                <a:solidFill>
                  <a:srgbClr val="CDEE99"/>
                </a:solidFill>
                <a:latin typeface="Avenir"/>
                <a:ea typeface="Avenir"/>
                <a:cs typeface="Avenir"/>
              </a:rPr>
              <a:t>3-5 sites</a:t>
            </a:r>
          </a:p>
        </p:txBody>
      </p:sp>
      <p:sp>
        <p:nvSpPr>
          <p:cNvPr id="5" name="">
            <a:extLst xmlns:a="http://schemas.openxmlformats.org/drawingml/2006/main">
              <a:ext uri="{FF2B5EF4-FFF2-40B4-BE49-F238E27FC236}">
                <a16:creationId xmlns:a16="http://schemas.microsoft.com/office/drawing/2014/main" id="{246F2E9A-851C-4292-BEE4-6640528858E1}"/>
              </a:ext>
            </a:extLst>
          </p:cNvPr>
          <p:cNvSpPr>
            <a:spLocks xmlns:a="http://schemas.openxmlformats.org/drawingml/2006/main" noGrp="1"/>
          </p:cNvSpPr>
          <p:nvPr/>
        </p:nvSpPr>
        <p:spPr>
          <a:xfrm xmlns:a="http://schemas.openxmlformats.org/drawingml/2006/main">
            <a:off x="609600" y="3438525"/>
            <a:ext cx="47815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FFFFF"/>
                </a:solidFill>
                <a:latin typeface="Avenir"/>
                <a:ea typeface="Avenir"/>
                <a:cs typeface="Avenir"/>
              </a:defRPr>
            </a:pPr>
            <a:r>
              <a:rPr sz="2250" b="0">
                <a:solidFill>
                  <a:srgbClr val="FFFFFF"/>
                </a:solidFill>
                <a:latin typeface="Avenir"/>
                <a:ea typeface="Avenir"/>
                <a:cs typeface="Avenir"/>
              </a:rPr>
              <a:t>Historical or simulated notices</a:t>
            </a:r>
          </a:p>
          <a:p xmlns:a="http://schemas.openxmlformats.org/drawingml/2006/main">
            <a:pPr>
              <a:defRPr sz="2250" b="0">
                <a:solidFill>
                  <a:srgbClr val="FFFFFF"/>
                </a:solidFill>
                <a:latin typeface="Avenir"/>
                <a:ea typeface="Avenir"/>
                <a:cs typeface="Avenir"/>
              </a:defRPr>
            </a:pPr>
            <a:r>
              <a:rPr sz="2250" b="0">
                <a:solidFill>
                  <a:srgbClr val="FFFFFF"/>
                </a:solidFill>
                <a:latin typeface="Avenir"/>
                <a:ea typeface="Avenir"/>
                <a:cs typeface="Avenir"/>
              </a:rPr>
              <a:t>with an authorized operations lead</a:t>
            </a:r>
          </a:p>
        </p:txBody>
      </p:sp>
      <p:sp>
        <p:nvSpPr>
          <p:cNvPr id="6" name="">
            <a:extLst xmlns:a="http://schemas.openxmlformats.org/drawingml/2006/main">
              <a:ext uri="{FF2B5EF4-FFF2-40B4-BE49-F238E27FC236}">
                <a16:creationId xmlns:a16="http://schemas.microsoft.com/office/drawing/2014/main" id="{04E19BAD-1C9E-458C-AB34-EC61572D8C37}"/>
              </a:ext>
            </a:extLst>
          </p:cNvPr>
          <p:cNvSpPr>
            <a:spLocks xmlns:a="http://schemas.openxmlformats.org/drawingml/2006/main" noGrp="1"/>
          </p:cNvSpPr>
          <p:nvPr/>
        </p:nvSpPr>
        <p:spPr>
          <a:xfrm xmlns:a="http://schemas.openxmlformats.org/drawingml/2006/main">
            <a:off x="6705600" y="2400300"/>
            <a:ext cx="4867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CDEE99"/>
                </a:solidFill>
                <a:latin typeface="Avenir"/>
                <a:ea typeface="Avenir"/>
                <a:cs typeface="Avenir"/>
              </a:defRPr>
            </a:pPr>
            <a:r>
              <a:rPr sz="2100" b="1">
                <a:solidFill>
                  <a:srgbClr val="CDEE99"/>
                </a:solidFill>
                <a:latin typeface="Avenir"/>
                <a:ea typeface="Avenir"/>
                <a:cs typeface="Avenir"/>
              </a:rPr>
              <a:t>Success criteria to test</a:t>
            </a:r>
          </a:p>
        </p:txBody>
      </p:sp>
      <p:sp>
        <p:nvSpPr>
          <p:cNvPr id="7" name="">
            <a:extLst xmlns:a="http://schemas.openxmlformats.org/drawingml/2006/main">
              <a:ext uri="{FF2B5EF4-FFF2-40B4-BE49-F238E27FC236}">
                <a16:creationId xmlns:a16="http://schemas.microsoft.com/office/drawing/2014/main" id="{71FCC25E-0D1D-46CB-A8C5-C08DC5688242}"/>
              </a:ext>
            </a:extLst>
          </p:cNvPr>
          <p:cNvSpPr>
            <a:spLocks xmlns:a="http://schemas.openxmlformats.org/drawingml/2006/main" noGrp="1"/>
          </p:cNvSpPr>
          <p:nvPr/>
        </p:nvSpPr>
        <p:spPr>
          <a:xfrm xmlns:a="http://schemas.openxmlformats.org/drawingml/2006/main">
            <a:off x="6705600" y="3143250"/>
            <a:ext cx="48672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FFFFF"/>
                </a:solidFill>
                <a:latin typeface="Avenir"/>
                <a:ea typeface="Avenir"/>
                <a:cs typeface="Avenir"/>
              </a:defRPr>
            </a:pPr>
            <a:r>
              <a:rPr sz="2025" b="0">
                <a:solidFill>
                  <a:srgbClr val="FFFFFF"/>
                </a:solidFill>
                <a:latin typeface="Avenir"/>
                <a:ea typeface="Avenir"/>
                <a:cs typeface="Avenir"/>
              </a:rPr>
              <a:t>Zero false-clear outcomes in the</a:t>
            </a:r>
          </a:p>
          <a:p xmlns:a="http://schemas.openxmlformats.org/drawingml/2006/main">
            <a:pPr>
              <a:defRPr sz="2025" b="0">
                <a:solidFill>
                  <a:srgbClr val="FFFFFF"/>
                </a:solidFill>
                <a:latin typeface="Avenir"/>
                <a:ea typeface="Avenir"/>
                <a:cs typeface="Avenir"/>
              </a:defRPr>
            </a:pPr>
            <a:r>
              <a:rPr sz="2025" b="0">
                <a:solidFill>
                  <a:srgbClr val="FFFFFF"/>
                </a:solidFill>
                <a:latin typeface="Avenir"/>
                <a:ea typeface="Avenir"/>
                <a:cs typeface="Avenir"/>
              </a:rPr>
              <a:t>human-adjudicated evaluation set</a:t>
            </a:r>
          </a:p>
          <a:p xmlns:a="http://schemas.openxmlformats.org/drawingml/2006/main">
            <a:r>
              <a:t/>
            </a:r>
          </a:p>
          <a:p xmlns:a="http://schemas.openxmlformats.org/drawingml/2006/main">
            <a:pPr>
              <a:defRPr sz="2025" b="0">
                <a:solidFill>
                  <a:srgbClr val="FFFFFF"/>
                </a:solidFill>
                <a:latin typeface="Avenir"/>
                <a:ea typeface="Avenir"/>
                <a:cs typeface="Avenir"/>
              </a:defRPr>
            </a:pPr>
            <a:r>
              <a:rPr sz="2025" b="0">
                <a:solidFill>
                  <a:srgbClr val="FFFFFF"/>
                </a:solidFill>
                <a:latin typeface="Avenir"/>
                <a:ea typeface="Avenir"/>
                <a:cs typeface="Avenir"/>
              </a:rPr>
              <a:t>At least 30% less median handling time</a:t>
            </a:r>
          </a:p>
          <a:p xmlns:a="http://schemas.openxmlformats.org/drawingml/2006/main">
            <a:r>
              <a:t/>
            </a:r>
          </a:p>
          <a:p xmlns:a="http://schemas.openxmlformats.org/drawingml/2006/main">
            <a:pPr>
              <a:defRPr sz="2025" b="0">
                <a:solidFill>
                  <a:srgbClr val="FFFFFF"/>
                </a:solidFill>
                <a:latin typeface="Avenir"/>
                <a:ea typeface="Avenir"/>
                <a:cs typeface="Avenir"/>
              </a:defRPr>
            </a:pPr>
            <a:r>
              <a:rPr sz="2025" b="0">
                <a:solidFill>
                  <a:srgbClr val="FFFFFF"/>
                </a:solidFill>
                <a:latin typeface="Avenir"/>
                <a:ea typeface="Avenir"/>
                <a:cs typeface="Avenir"/>
              </a:rPr>
              <a:t>A buyer willing to continue at a paid price</a:t>
            </a:r>
          </a:p>
        </p:txBody>
      </p:sp>
      <p:sp>
        <p:nvSpPr>
          <p:cNvPr id="8" name="">
            <a:extLst xmlns:a="http://schemas.openxmlformats.org/drawingml/2006/main">
              <a:ext uri="{FF2B5EF4-FFF2-40B4-BE49-F238E27FC236}">
                <a16:creationId xmlns:a16="http://schemas.microsoft.com/office/drawing/2014/main" id="{89985509-9A14-43E9-9573-4A15C9A98F7D}"/>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6C9CF"/>
                </a:solidFill>
                <a:latin typeface="Avenir"/>
                <a:ea typeface="Avenir"/>
                <a:cs typeface="Avenir"/>
              </a:defRPr>
            </a:pPr>
            <a:r>
              <a:rPr sz="1200" b="0">
                <a:solidFill>
                  <a:srgbClr val="B6C9CF"/>
                </a:solidFill>
                <a:latin typeface="Avenir"/>
                <a:ea typeface="Avenir"/>
                <a:cs typeface="Avenir"/>
              </a:rPr>
              <a:t>Proposed targets only. No pilot or customer interviews completed. Measure onboarding effort and support cost alongside benefits.</a:t>
            </a:r>
          </a:p>
        </p:txBody>
      </p:sp>
    </p:spTree>
    <p:extLst>
      <p:ext uri="{BB962C8B-B14F-4D97-AF65-F5344CB8AC3E}">
        <p14:creationId xmlns:p14="http://schemas.microsoft.com/office/powerpoint/2010/main" val="17947458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10C10D-6F5C-4004-8DA5-2C60011158A9}"/>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08796B"/>
                </a:solidFill>
                <a:latin typeface="Avenir"/>
                <a:ea typeface="Avenir"/>
                <a:cs typeface="Avenir"/>
              </a:defRPr>
            </a:pPr>
            <a:r>
              <a:rPr sz="1275" b="1">
                <a:solidFill>
                  <a:srgbClr val="08796B"/>
                </a:solidFill>
                <a:latin typeface="Avenir"/>
                <a:ea typeface="Avenir"/>
                <a:cs typeface="Avenir"/>
              </a:rPr>
              <a:t>Team Details</a:t>
            </a:r>
          </a:p>
        </p:txBody>
      </p:sp>
      <p:sp>
        <p:nvSpPr>
          <p:cNvPr id="2" name="">
            <a:extLst xmlns:a="http://schemas.openxmlformats.org/drawingml/2006/main">
              <a:ext uri="{FF2B5EF4-FFF2-40B4-BE49-F238E27FC236}">
                <a16:creationId xmlns:a16="http://schemas.microsoft.com/office/drawing/2014/main" id="{25B706B4-CE70-4597-AA37-E12B75297304}"/>
              </a:ext>
            </a:extLst>
          </p:cNvPr>
          <p:cNvSpPr>
            <a:spLocks xmlns:a="http://schemas.openxmlformats.org/drawingml/2006/main" noGrp="1"/>
          </p:cNvSpPr>
          <p:nvPr/>
        </p:nvSpPr>
        <p:spPr>
          <a:xfrm xmlns:a="http://schemas.openxmlformats.org/drawingml/2006/main">
            <a:off x="609600" y="952500"/>
            <a:ext cx="1095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02E3B"/>
                </a:solidFill>
                <a:latin typeface="Avenir"/>
                <a:ea typeface="Avenir"/>
                <a:cs typeface="Avenir"/>
              </a:defRPr>
            </a:pPr>
            <a:r>
              <a:rPr sz="3600" b="1">
                <a:solidFill>
                  <a:srgbClr val="102E3B"/>
                </a:solidFill>
                <a:latin typeface="Avenir"/>
                <a:ea typeface="Avenir"/>
                <a:cs typeface="Avenir"/>
              </a:rPr>
              <a:t>Shivam Gupta</a:t>
            </a:r>
          </a:p>
        </p:txBody>
      </p:sp>
      <p:sp>
        <p:nvSpPr>
          <p:cNvPr id="3" name="">
            <a:extLst xmlns:a="http://schemas.openxmlformats.org/drawingml/2006/main">
              <a:ext uri="{FF2B5EF4-FFF2-40B4-BE49-F238E27FC236}">
                <a16:creationId xmlns:a16="http://schemas.microsoft.com/office/drawing/2014/main" id="{3452B9E4-FFA4-4E53-BBA7-30E1A7120B50}"/>
              </a:ext>
            </a:extLst>
          </p:cNvPr>
          <p:cNvSpPr>
            <a:spLocks xmlns:a="http://schemas.openxmlformats.org/drawingml/2006/main" noGrp="1"/>
          </p:cNvSpPr>
          <p:nvPr/>
        </p:nvSpPr>
        <p:spPr>
          <a:xfrm xmlns:a="http://schemas.openxmlformats.org/drawingml/2006/main">
            <a:off x="609600" y="6362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0">
                <a:solidFill>
                  <a:srgbClr val="56707B"/>
                </a:solidFill>
                <a:latin typeface="Avenir"/>
                <a:ea typeface="Avenir"/>
                <a:cs typeface="Avenir"/>
              </a:defRPr>
            </a:pPr>
            <a:r>
              <a:rPr sz="1050" b="0">
                <a:solidFill>
                  <a:srgbClr val="56707B"/>
                </a:solidFill>
                <a:latin typeface="Avenir"/>
                <a:ea typeface="Avenir"/>
                <a:cs typeface="Avenir"/>
              </a:rPr>
              <a:t>LOTLINE   /   10</a:t>
            </a:r>
          </a:p>
        </p:txBody>
      </p:sp>
      <p:sp>
        <p:nvSpPr>
          <p:cNvPr id="4" name="">
            <a:extLst xmlns:a="http://schemas.openxmlformats.org/drawingml/2006/main">
              <a:ext uri="{FF2B5EF4-FFF2-40B4-BE49-F238E27FC236}">
                <a16:creationId xmlns:a16="http://schemas.microsoft.com/office/drawing/2014/main" id="{C49F399D-EA72-4F9D-BEDA-915B672C8996}"/>
              </a:ext>
            </a:extLst>
          </p:cNvPr>
          <p:cNvSpPr>
            <a:spLocks xmlns:a="http://schemas.openxmlformats.org/drawingml/2006/main" noGrp="1"/>
          </p:cNvSpPr>
          <p:nvPr/>
        </p:nvSpPr>
        <p:spPr>
          <a:xfrm xmlns:a="http://schemas.openxmlformats.org/drawingml/2006/main">
            <a:off x="609600" y="2362200"/>
            <a:ext cx="10610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08796B"/>
                </a:solidFill>
                <a:latin typeface="Avenir"/>
                <a:ea typeface="Avenir"/>
                <a:cs typeface="Avenir"/>
              </a:defRPr>
            </a:pPr>
            <a:r>
              <a:rPr sz="2775" b="1">
                <a:solidFill>
                  <a:srgbClr val="08796B"/>
                </a:solidFill>
                <a:latin typeface="Avenir"/>
                <a:ea typeface="Avenir"/>
                <a:cs typeface="Avenir"/>
              </a:rPr>
              <a:t>Project creator and product direction</a:t>
            </a:r>
          </a:p>
        </p:txBody>
      </p:sp>
      <p:sp>
        <p:nvSpPr>
          <p:cNvPr id="5" name="">
            <a:extLst xmlns:a="http://schemas.openxmlformats.org/drawingml/2006/main">
              <a:ext uri="{FF2B5EF4-FFF2-40B4-BE49-F238E27FC236}">
                <a16:creationId xmlns:a16="http://schemas.microsoft.com/office/drawing/2014/main" id="{50C78C00-047C-404B-B0F8-346FA7899378}"/>
              </a:ext>
            </a:extLst>
          </p:cNvPr>
          <p:cNvSpPr>
            <a:spLocks xmlns:a="http://schemas.openxmlformats.org/drawingml/2006/main" noGrp="1"/>
          </p:cNvSpPr>
          <p:nvPr/>
        </p:nvSpPr>
        <p:spPr>
          <a:xfrm xmlns:a="http://schemas.openxmlformats.org/drawingml/2006/main">
            <a:off x="609600" y="3429000"/>
            <a:ext cx="106680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02E3B"/>
                </a:solidFill>
                <a:latin typeface="Avenir"/>
                <a:ea typeface="Avenir"/>
                <a:cs typeface="Avenir"/>
              </a:defRPr>
            </a:pPr>
            <a:r>
              <a:rPr sz="3300" b="1">
                <a:solidFill>
                  <a:srgbClr val="102E3B"/>
                </a:solidFill>
                <a:latin typeface="Avenir"/>
                <a:ea typeface="Avenir"/>
                <a:cs typeface="Avenir"/>
              </a:rPr>
              <a:t>A recall response should leave</a:t>
            </a:r>
          </a:p>
          <a:p xmlns:a="http://schemas.openxmlformats.org/drawingml/2006/main">
            <a:pPr>
              <a:defRPr sz="3300" b="1">
                <a:solidFill>
                  <a:srgbClr val="102E3B"/>
                </a:solidFill>
                <a:latin typeface="Avenir"/>
                <a:ea typeface="Avenir"/>
                <a:cs typeface="Avenir"/>
              </a:defRPr>
            </a:pPr>
            <a:r>
              <a:rPr sz="3300" b="1">
                <a:solidFill>
                  <a:srgbClr val="102E3B"/>
                </a:solidFill>
                <a:latin typeface="Avenir"/>
                <a:ea typeface="Avenir"/>
                <a:cs typeface="Avenir"/>
              </a:rPr>
              <a:t>no unknown unit hidden</a:t>
            </a:r>
          </a:p>
          <a:p xmlns:a="http://schemas.openxmlformats.org/drawingml/2006/main">
            <a:pPr>
              <a:defRPr sz="3300" b="1">
                <a:solidFill>
                  <a:srgbClr val="102E3B"/>
                </a:solidFill>
                <a:latin typeface="Avenir"/>
                <a:ea typeface="Avenir"/>
                <a:cs typeface="Avenir"/>
              </a:defRPr>
            </a:pPr>
            <a:r>
              <a:rPr sz="3300" b="1">
                <a:solidFill>
                  <a:srgbClr val="102E3B"/>
                </a:solidFill>
                <a:latin typeface="Avenir"/>
                <a:ea typeface="Avenir"/>
                <a:cs typeface="Avenir"/>
              </a:rPr>
              <a:t>behind a completed checkbox.</a:t>
            </a:r>
          </a:p>
        </p:txBody>
      </p:sp>
      <p:sp>
        <p:nvSpPr>
          <p:cNvPr id="6" name="">
            <a:extLst xmlns:a="http://schemas.openxmlformats.org/drawingml/2006/main">
              <a:ext uri="{FF2B5EF4-FFF2-40B4-BE49-F238E27FC236}">
                <a16:creationId xmlns:a16="http://schemas.microsoft.com/office/drawing/2014/main" id="{7172C0A8-B34A-482D-86C9-10563871B9E0}"/>
              </a:ext>
            </a:extLst>
          </p:cNvPr>
          <p:cNvSpPr>
            <a:spLocks xmlns:a="http://schemas.openxmlformats.org/drawingml/2006/main" noGrp="1"/>
          </p:cNvSpPr>
          <p:nvPr/>
        </p:nvSpPr>
        <p:spPr>
          <a:xfrm xmlns:a="http://schemas.openxmlformats.org/drawingml/2006/main">
            <a:off x="609600" y="58578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707B"/>
                </a:solidFill>
                <a:latin typeface="Avenir"/>
                <a:ea typeface="Avenir"/>
                <a:cs typeface="Avenir"/>
              </a:defRPr>
            </a:pPr>
            <a:r>
              <a:rPr sz="1200" b="0">
                <a:solidFill>
                  <a:srgbClr val="56707B"/>
                </a:solidFill>
                <a:latin typeface="Avenir"/>
                <a:ea typeface="Avenir"/>
                <a:cs typeface="Avenir"/>
              </a:rPr>
              <a:t>Developed with substantial AI assistance for research, software implementation, testing and submission drafting.</a:t>
            </a:r>
          </a:p>
        </p:txBody>
      </p:sp>
    </p:spTree>
    <p:extLst>
      <p:ext uri="{BB962C8B-B14F-4D97-AF65-F5344CB8AC3E}">
        <p14:creationId xmlns:p14="http://schemas.microsoft.com/office/powerpoint/2010/main" val="1339250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2026-09-15T06:02:21.6570000Z</dcterms:created>
  <dcterms:modified xsi:type="dcterms:W3CDTF">2026-09-15T06:02:21.6570000Z</dcterms:modified>
</coreProperties>
</file>